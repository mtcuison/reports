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3.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notesSlides/notesSlide4.xml" ContentType="application/vnd.openxmlformats-officedocument.presentationml.notesSlide+xml"/>
  <Override PartName="/ppt/charts/chart3.xml" ContentType="application/vnd.openxmlformats-officedocument.drawingml.chart+xml"/>
  <Override PartName="/ppt/drawings/drawing3.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64" r:id="rId3"/>
    <p:sldId id="326" r:id="rId4"/>
    <p:sldId id="327" r:id="rId5"/>
    <p:sldId id="328"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D2E"/>
    <a:srgbClr val="FF9800"/>
    <a:srgbClr val="B2B2B2"/>
    <a:srgbClr val="081F2C"/>
    <a:srgbClr val="6C6A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autoAdjust="0"/>
    <p:restoredTop sz="93548" autoAdjust="0"/>
  </p:normalViewPr>
  <p:slideViewPr>
    <p:cSldViewPr snapToGrid="0">
      <p:cViewPr varScale="1">
        <p:scale>
          <a:sx n="108" d="100"/>
          <a:sy n="108" d="100"/>
        </p:scale>
        <p:origin x="185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BDE55-35D3-4A40-AD33-0B9324017773}" type="datetimeFigureOut">
              <a:rPr lang="en-PH" smtClean="0"/>
              <a:pPr/>
              <a:t>11/12/2020</a:t>
            </a:fld>
            <a:endParaRPr lang="en-P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BDC400-2BB4-4D75-9C23-2A869DBE2B21}" type="slidenum">
              <a:rPr lang="en-PH" smtClean="0"/>
              <a:pPr/>
              <a:t>‹#›</a:t>
            </a:fld>
            <a:endParaRPr lang="en-PH"/>
          </a:p>
        </p:txBody>
      </p:sp>
    </p:spTree>
    <p:extLst>
      <p:ext uri="{BB962C8B-B14F-4D97-AF65-F5344CB8AC3E}">
        <p14:creationId xmlns:p14="http://schemas.microsoft.com/office/powerpoint/2010/main" val="2348221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2</a:t>
            </a:fld>
            <a:endParaRPr lang="en-PH"/>
          </a:p>
        </p:txBody>
      </p:sp>
    </p:spTree>
    <p:extLst>
      <p:ext uri="{BB962C8B-B14F-4D97-AF65-F5344CB8AC3E}">
        <p14:creationId xmlns:p14="http://schemas.microsoft.com/office/powerpoint/2010/main" val="265085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3</a:t>
            </a:fld>
            <a:endParaRPr lang="en-PH"/>
          </a:p>
        </p:txBody>
      </p:sp>
    </p:spTree>
    <p:extLst>
      <p:ext uri="{BB962C8B-B14F-4D97-AF65-F5344CB8AC3E}">
        <p14:creationId xmlns:p14="http://schemas.microsoft.com/office/powerpoint/2010/main" val="33006699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4</a:t>
            </a:fld>
            <a:endParaRPr lang="en-PH"/>
          </a:p>
        </p:txBody>
      </p:sp>
    </p:spTree>
    <p:extLst>
      <p:ext uri="{BB962C8B-B14F-4D97-AF65-F5344CB8AC3E}">
        <p14:creationId xmlns:p14="http://schemas.microsoft.com/office/powerpoint/2010/main" val="3878748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5</a:t>
            </a:fld>
            <a:endParaRPr lang="en-PH"/>
          </a:p>
        </p:txBody>
      </p:sp>
    </p:spTree>
    <p:extLst>
      <p:ext uri="{BB962C8B-B14F-4D97-AF65-F5344CB8AC3E}">
        <p14:creationId xmlns:p14="http://schemas.microsoft.com/office/powerpoint/2010/main" val="2284191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2942839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9810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907689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4016254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3463627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2955531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854776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57366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224872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3733182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11/12/2020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795515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254A3-CA93-4ED2-8531-7F94B29CAD94}" type="datetimeFigureOut">
              <a:rPr lang="en-PH" smtClean="0"/>
              <a:pPr/>
              <a:t>11/12/2020</a:t>
            </a:fld>
            <a:endParaRPr lang="en-PH"/>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CE2B4-5905-476D-A26A-30AF6E7624E9}" type="slidenum">
              <a:rPr lang="en-PH" smtClean="0"/>
              <a:pPr/>
              <a:t>‹#›</a:t>
            </a:fld>
            <a:endParaRPr lang="en-PH"/>
          </a:p>
        </p:txBody>
      </p:sp>
    </p:spTree>
    <p:extLst>
      <p:ext uri="{BB962C8B-B14F-4D97-AF65-F5344CB8AC3E}">
        <p14:creationId xmlns:p14="http://schemas.microsoft.com/office/powerpoint/2010/main" val="3045105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12192000" cy="685800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533" y="390459"/>
            <a:ext cx="8523430" cy="132693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8552" y="0"/>
            <a:ext cx="5759449" cy="6858000"/>
          </a:xfrm>
          <a:prstGeom prst="rect">
            <a:avLst/>
          </a:prstGeom>
        </p:spPr>
      </p:pic>
    </p:spTree>
    <p:extLst>
      <p:ext uri="{BB962C8B-B14F-4D97-AF65-F5344CB8AC3E}">
        <p14:creationId xmlns:p14="http://schemas.microsoft.com/office/powerpoint/2010/main" val="2999953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2"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1000" fill="hold"/>
                                        <p:tgtEl>
                                          <p:spTgt spid="9"/>
                                        </p:tgtEl>
                                        <p:attrNameLst>
                                          <p:attrName>ppt_x</p:attrName>
                                        </p:attrNameLst>
                                      </p:cBhvr>
                                      <p:tavLst>
                                        <p:tav tm="0">
                                          <p:val>
                                            <p:strVal val="1+#ppt_w/2"/>
                                          </p:val>
                                        </p:tav>
                                        <p:tav tm="100000">
                                          <p:val>
                                            <p:strVal val="#ppt_x"/>
                                          </p:val>
                                        </p:tav>
                                      </p:tavLst>
                                    </p:anim>
                                    <p:anim calcmode="lin" valueType="num">
                                      <p:cBhvr additive="base">
                                        <p:cTn id="17" dur="1000" fill="hold"/>
                                        <p:tgtEl>
                                          <p:spTgt spid="9"/>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0" presetClass="exit" presetSubtype="0" fill="hold" nodeType="after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childTnLst>
                          </p:cTn>
                        </p:par>
                        <p:par>
                          <p:cTn id="22" fill="hold">
                            <p:stCondLst>
                              <p:cond delay="2000"/>
                            </p:stCondLst>
                            <p:childTnLst>
                              <p:par>
                                <p:cTn id="23" presetID="2" presetClass="exit" presetSubtype="4" fill="hold" nodeType="afterEffect">
                                  <p:stCondLst>
                                    <p:cond delay="0"/>
                                  </p:stCondLst>
                                  <p:childTnLst>
                                    <p:anim calcmode="lin" valueType="num">
                                      <p:cBhvr additive="base">
                                        <p:cTn id="24" dur="500"/>
                                        <p:tgtEl>
                                          <p:spTgt spid="6"/>
                                        </p:tgtEl>
                                        <p:attrNameLst>
                                          <p:attrName>ppt_x</p:attrName>
                                        </p:attrNameLst>
                                      </p:cBhvr>
                                      <p:tavLst>
                                        <p:tav tm="0">
                                          <p:val>
                                            <p:strVal val="ppt_x"/>
                                          </p:val>
                                        </p:tav>
                                        <p:tav tm="100000">
                                          <p:val>
                                            <p:strVal val="ppt_x"/>
                                          </p:val>
                                        </p:tav>
                                      </p:tavLst>
                                    </p:anim>
                                    <p:anim calcmode="lin" valueType="num">
                                      <p:cBhvr additive="base">
                                        <p:cTn id="25" dur="500"/>
                                        <p:tgtEl>
                                          <p:spTgt spid="6"/>
                                        </p:tgtEl>
                                        <p:attrNameLst>
                                          <p:attrName>ppt_y</p:attrName>
                                        </p:attrNameLst>
                                      </p:cBhvr>
                                      <p:tavLst>
                                        <p:tav tm="0">
                                          <p:val>
                                            <p:strVal val="ppt_y"/>
                                          </p:val>
                                        </p:tav>
                                        <p:tav tm="100000">
                                          <p:val>
                                            <p:strVal val="1+ppt_h/2"/>
                                          </p:val>
                                        </p:tav>
                                      </p:tavLst>
                                    </p:anim>
                                    <p:set>
                                      <p:cBhvr>
                                        <p:cTn id="26" dur="1" fill="hold">
                                          <p:stCondLst>
                                            <p:cond delay="499"/>
                                          </p:stCondLst>
                                        </p:cTn>
                                        <p:tgtEl>
                                          <p:spTgt spid="6"/>
                                        </p:tgtEl>
                                        <p:attrNameLst>
                                          <p:attrName>style.visibility</p:attrName>
                                        </p:attrNameLst>
                                      </p:cBhvr>
                                      <p:to>
                                        <p:strVal val="hidden"/>
                                      </p:to>
                                    </p:set>
                                  </p:childTnLst>
                                </p:cTn>
                              </p:par>
                              <p:par>
                                <p:cTn id="27" presetID="2" presetClass="exit" presetSubtype="8" fill="hold" nodeType="withEffect">
                                  <p:stCondLst>
                                    <p:cond delay="0"/>
                                  </p:stCondLst>
                                  <p:childTnLst>
                                    <p:anim calcmode="lin" valueType="num">
                                      <p:cBhvr additive="base">
                                        <p:cTn id="28" dur="500"/>
                                        <p:tgtEl>
                                          <p:spTgt spid="8"/>
                                        </p:tgtEl>
                                        <p:attrNameLst>
                                          <p:attrName>ppt_x</p:attrName>
                                        </p:attrNameLst>
                                      </p:cBhvr>
                                      <p:tavLst>
                                        <p:tav tm="0">
                                          <p:val>
                                            <p:strVal val="ppt_x"/>
                                          </p:val>
                                        </p:tav>
                                        <p:tav tm="100000">
                                          <p:val>
                                            <p:strVal val="0-ppt_w/2"/>
                                          </p:val>
                                        </p:tav>
                                      </p:tavLst>
                                    </p:anim>
                                    <p:anim calcmode="lin" valueType="num">
                                      <p:cBhvr additive="base">
                                        <p:cTn id="29" dur="500"/>
                                        <p:tgtEl>
                                          <p:spTgt spid="8"/>
                                        </p:tgtEl>
                                        <p:attrNameLst>
                                          <p:attrName>ppt_y</p:attrName>
                                        </p:attrNameLst>
                                      </p:cBhvr>
                                      <p:tavLst>
                                        <p:tav tm="0">
                                          <p:val>
                                            <p:strVal val="ppt_y"/>
                                          </p:val>
                                        </p:tav>
                                        <p:tav tm="100000">
                                          <p:val>
                                            <p:strVal val="ppt_y"/>
                                          </p:val>
                                        </p:tav>
                                      </p:tavLst>
                                    </p:anim>
                                    <p:set>
                                      <p:cBhvr>
                                        <p:cTn id="3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C6A66"/>
        </a:solidFill>
        <a:effectLst/>
      </p:bgPr>
    </p:bg>
    <p:spTree>
      <p:nvGrpSpPr>
        <p:cNvPr id="1" name=""/>
        <p:cNvGrpSpPr/>
        <p:nvPr/>
      </p:nvGrpSpPr>
      <p:grpSpPr>
        <a:xfrm>
          <a:off x="0" y="0"/>
          <a:ext cx="0" cy="0"/>
          <a:chOff x="0" y="0"/>
          <a:chExt cx="0" cy="0"/>
        </a:xfrm>
      </p:grpSpPr>
      <p:sp>
        <p:nvSpPr>
          <p:cNvPr id="3" name="TextBox 2"/>
          <p:cNvSpPr txBox="1"/>
          <p:nvPr/>
        </p:nvSpPr>
        <p:spPr>
          <a:xfrm>
            <a:off x="800100" y="3095625"/>
            <a:ext cx="7534275" cy="830997"/>
          </a:xfrm>
          <a:prstGeom prst="rect">
            <a:avLst/>
          </a:prstGeom>
          <a:noFill/>
        </p:spPr>
        <p:txBody>
          <a:bodyPr wrap="square" rtlCol="0">
            <a:spAutoFit/>
          </a:bodyPr>
          <a:lstStyle/>
          <a:p>
            <a:pPr algn="ctr"/>
            <a:r>
              <a:rPr lang="en-US" sz="4800" dirty="0">
                <a:solidFill>
                  <a:srgbClr val="F68D2E"/>
                </a:solidFill>
                <a:latin typeface="Adobe Gothic Std B" panose="020B0800000000000000" pitchFamily="34" charset="-128"/>
                <a:ea typeface="Adobe Gothic Std B" panose="020B0800000000000000" pitchFamily="34" charset="-128"/>
              </a:rPr>
              <a:t>MIS</a:t>
            </a:r>
          </a:p>
        </p:txBody>
      </p:sp>
      <p:sp>
        <p:nvSpPr>
          <p:cNvPr id="4" name="Rectangle 3"/>
          <p:cNvSpPr/>
          <p:nvPr/>
        </p:nvSpPr>
        <p:spPr>
          <a:xfrm>
            <a:off x="775855" y="2655241"/>
            <a:ext cx="7592290" cy="1689368"/>
          </a:xfrm>
          <a:prstGeom prst="rect">
            <a:avLst/>
          </a:prstGeom>
          <a:noFill/>
          <a:ln w="12700">
            <a:solidFill>
              <a:srgbClr val="FF98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H"/>
          </a:p>
        </p:txBody>
      </p:sp>
    </p:spTree>
    <p:extLst>
      <p:ext uri="{BB962C8B-B14F-4D97-AF65-F5344CB8AC3E}">
        <p14:creationId xmlns:p14="http://schemas.microsoft.com/office/powerpoint/2010/main" val="862273399"/>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nvGraphicFramePr>
        <p:xfrm>
          <a:off x="0" y="571595"/>
          <a:ext cx="9144000"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Accomplishments</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0" y="573787"/>
            <a:ext cx="5296706" cy="4524315"/>
          </a:xfrm>
          <a:prstGeom prst="rect">
            <a:avLst/>
          </a:prstGeom>
          <a:noFill/>
        </p:spPr>
        <p:txBody>
          <a:bodyPr wrap="none" rtlCol="0">
            <a:spAutoFit/>
          </a:bodyPr>
          <a:lstStyle/>
          <a:p>
            <a:pPr marL="285750" indent="-285750">
              <a:buFont typeface="Wingdings" panose="05000000000000000000" pitchFamily="2" charset="2"/>
              <a:buChar char="ü"/>
            </a:pPr>
            <a:r>
              <a:rPr lang="en-US" dirty="0"/>
              <a:t>G-Card</a:t>
            </a:r>
          </a:p>
          <a:p>
            <a:pPr marL="742950" lvl="1" indent="-285750">
              <a:buFont typeface="Wingdings" panose="05000000000000000000" pitchFamily="2" charset="2"/>
              <a:buChar char="ü"/>
            </a:pPr>
            <a:r>
              <a:rPr lang="en-US" dirty="0"/>
              <a:t>Chip less Card</a:t>
            </a:r>
          </a:p>
          <a:p>
            <a:pPr marL="1200150" lvl="2" indent="-285750">
              <a:buFont typeface="Wingdings" panose="05000000000000000000" pitchFamily="2" charset="2"/>
              <a:buChar char="ü"/>
            </a:pPr>
            <a:r>
              <a:rPr lang="en-US" dirty="0"/>
              <a:t>SMS Masking for OTP</a:t>
            </a:r>
          </a:p>
          <a:p>
            <a:pPr marL="285750" indent="-285750">
              <a:buFont typeface="Wingdings" panose="05000000000000000000" pitchFamily="2" charset="2"/>
              <a:buChar char="ü"/>
            </a:pPr>
            <a:r>
              <a:rPr lang="en-US" dirty="0"/>
              <a:t>Collection</a:t>
            </a:r>
          </a:p>
          <a:p>
            <a:pPr marL="742950" lvl="1" indent="-285750">
              <a:buFont typeface="Wingdings" panose="05000000000000000000" pitchFamily="2" charset="2"/>
              <a:buChar char="ü"/>
            </a:pPr>
            <a:r>
              <a:rPr lang="en-US" dirty="0"/>
              <a:t>E-Document</a:t>
            </a:r>
          </a:p>
          <a:p>
            <a:pPr marL="742950" lvl="1" indent="-285750">
              <a:buFont typeface="Wingdings" panose="05000000000000000000" pitchFamily="2" charset="2"/>
              <a:buChar char="ü"/>
            </a:pPr>
            <a:r>
              <a:rPr lang="en-US" dirty="0"/>
              <a:t>CI Speed Credit Scoring</a:t>
            </a:r>
          </a:p>
          <a:p>
            <a:pPr marL="742950" lvl="1" indent="-285750">
              <a:buFont typeface="Wingdings" panose="05000000000000000000" pitchFamily="2" charset="2"/>
              <a:buChar char="ü"/>
            </a:pPr>
            <a:r>
              <a:rPr lang="en-US" dirty="0"/>
              <a:t>Adjust Term Loan for AR Customers – COVID19</a:t>
            </a:r>
          </a:p>
          <a:p>
            <a:pPr marL="742950" lvl="1" indent="-285750">
              <a:buFont typeface="Wingdings" panose="05000000000000000000" pitchFamily="2" charset="2"/>
              <a:buChar char="ü"/>
            </a:pPr>
            <a:r>
              <a:rPr lang="en-US" dirty="0"/>
              <a:t>Payment Center payments system integration</a:t>
            </a:r>
          </a:p>
          <a:p>
            <a:pPr marL="285750" indent="-285750">
              <a:buFont typeface="Wingdings" panose="05000000000000000000" pitchFamily="2" charset="2"/>
              <a:buChar char="ü"/>
            </a:pPr>
            <a:r>
              <a:rPr lang="en-US" dirty="0"/>
              <a:t>MP Division</a:t>
            </a:r>
          </a:p>
          <a:p>
            <a:pPr marL="742950" lvl="1" indent="-285750">
              <a:buFont typeface="Wingdings" panose="05000000000000000000" pitchFamily="2" charset="2"/>
              <a:buChar char="ü"/>
            </a:pPr>
            <a:r>
              <a:rPr lang="en-US" dirty="0"/>
              <a:t>E-Commerce</a:t>
            </a:r>
          </a:p>
          <a:p>
            <a:pPr marL="742950" lvl="1" indent="-285750">
              <a:buFont typeface="Wingdings" panose="05000000000000000000" pitchFamily="2" charset="2"/>
              <a:buChar char="ü"/>
            </a:pPr>
            <a:r>
              <a:rPr lang="en-US" dirty="0"/>
              <a:t>O-Guard</a:t>
            </a:r>
          </a:p>
          <a:p>
            <a:pPr marL="285750" indent="-285750">
              <a:buFont typeface="Wingdings" panose="05000000000000000000" pitchFamily="2" charset="2"/>
              <a:buChar char="ü"/>
            </a:pPr>
            <a:r>
              <a:rPr lang="en-US" dirty="0"/>
              <a:t>SP Warehouse/Sales</a:t>
            </a:r>
          </a:p>
          <a:p>
            <a:pPr marL="742950" lvl="1" indent="-285750">
              <a:buFont typeface="Wingdings" panose="05000000000000000000" pitchFamily="2" charset="2"/>
              <a:buChar char="ü"/>
            </a:pPr>
            <a:r>
              <a:rPr lang="en-US" dirty="0"/>
              <a:t>Supplier Service Report</a:t>
            </a:r>
          </a:p>
          <a:p>
            <a:pPr marL="285750" indent="-285750">
              <a:buFont typeface="Wingdings" panose="05000000000000000000" pitchFamily="2" charset="2"/>
              <a:buChar char="ü"/>
            </a:pPr>
            <a:r>
              <a:rPr lang="en-US" dirty="0"/>
              <a:t>MC Warehouse</a:t>
            </a:r>
          </a:p>
          <a:p>
            <a:pPr marL="742950" lvl="1" indent="-285750">
              <a:buFont typeface="Wingdings" panose="05000000000000000000" pitchFamily="2" charset="2"/>
              <a:buChar char="ü"/>
            </a:pPr>
            <a:r>
              <a:rPr lang="en-US" dirty="0"/>
              <a:t>MC Aging Report(MC Inventory Summary)</a:t>
            </a:r>
          </a:p>
          <a:p>
            <a:pPr marL="742950" lvl="1" indent="-285750">
              <a:buFont typeface="Wingdings" panose="05000000000000000000" pitchFamily="2" charset="2"/>
              <a:buChar char="ü"/>
            </a:pPr>
            <a:r>
              <a:rPr lang="en-US" dirty="0"/>
              <a:t>Warehouse Sectioning</a:t>
            </a:r>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B88F72F2-4E4B-4308-8976-A12214E0BA73}"/>
              </a:ext>
            </a:extLst>
          </p:cNvPr>
          <p:cNvSpPr txBox="1"/>
          <p:nvPr/>
        </p:nvSpPr>
        <p:spPr>
          <a:xfrm>
            <a:off x="3839189" y="82707"/>
            <a:ext cx="5147435" cy="400110"/>
          </a:xfrm>
          <a:prstGeom prst="rect">
            <a:avLst/>
          </a:prstGeom>
          <a:noFill/>
        </p:spPr>
        <p:txBody>
          <a:bodyPr wrap="none" rtlCol="0">
            <a:spAutoFit/>
          </a:bodyPr>
          <a:lstStyle/>
          <a:p>
            <a:pPr algn="ctr"/>
            <a:r>
              <a:rPr lang="en-US" sz="2000" b="1" dirty="0">
                <a:solidFill>
                  <a:schemeClr val="bg1"/>
                </a:solidFill>
              </a:rPr>
              <a:t>System Development – 2020 Accomplishments</a:t>
            </a:r>
          </a:p>
        </p:txBody>
      </p:sp>
    </p:spTree>
    <p:extLst>
      <p:ext uri="{BB962C8B-B14F-4D97-AF65-F5344CB8AC3E}">
        <p14:creationId xmlns:p14="http://schemas.microsoft.com/office/powerpoint/2010/main" val="3447404486"/>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nvGraphicFramePr>
        <p:xfrm>
          <a:off x="0" y="571595"/>
          <a:ext cx="9144000"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Accomplishments</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0" y="689201"/>
            <a:ext cx="6078202" cy="5355312"/>
          </a:xfrm>
          <a:prstGeom prst="rect">
            <a:avLst/>
          </a:prstGeom>
          <a:noFill/>
        </p:spPr>
        <p:txBody>
          <a:bodyPr wrap="none" rtlCol="0">
            <a:spAutoFit/>
          </a:bodyPr>
          <a:lstStyle/>
          <a:p>
            <a:pPr marL="285750" indent="-285750">
              <a:buFont typeface="Wingdings" panose="05000000000000000000" pitchFamily="2" charset="2"/>
              <a:buChar char="ü"/>
            </a:pPr>
            <a:r>
              <a:rPr lang="en-US" dirty="0"/>
              <a:t>Finance Management</a:t>
            </a:r>
          </a:p>
          <a:p>
            <a:pPr marL="742950" lvl="1" indent="-285750">
              <a:buFont typeface="Wingdings" panose="05000000000000000000" pitchFamily="2" charset="2"/>
              <a:buChar char="ü"/>
            </a:pPr>
            <a:r>
              <a:rPr lang="en-US" dirty="0"/>
              <a:t>SOA Unpaid PO Receiving Report(Unposted DA Report)</a:t>
            </a:r>
          </a:p>
          <a:p>
            <a:pPr marL="285750" indent="-285750">
              <a:buFont typeface="Wingdings" panose="05000000000000000000" pitchFamily="2" charset="2"/>
              <a:buChar char="ü"/>
            </a:pPr>
            <a:r>
              <a:rPr lang="en-US" dirty="0"/>
              <a:t>Human Capital Management</a:t>
            </a:r>
          </a:p>
          <a:p>
            <a:pPr marL="742950" lvl="1" indent="-285750">
              <a:buFont typeface="Wingdings" panose="05000000000000000000" pitchFamily="2" charset="2"/>
              <a:buChar char="ü"/>
            </a:pPr>
            <a:r>
              <a:rPr lang="en-US" dirty="0"/>
              <a:t>Approval Code (Android)</a:t>
            </a:r>
          </a:p>
          <a:p>
            <a:pPr marL="285750" indent="-285750">
              <a:buFont typeface="Wingdings" panose="05000000000000000000" pitchFamily="2" charset="2"/>
              <a:buChar char="ü"/>
            </a:pPr>
            <a:r>
              <a:rPr lang="en-US" dirty="0"/>
              <a:t>Website</a:t>
            </a:r>
          </a:p>
          <a:p>
            <a:pPr marL="742950" lvl="1" indent="-285750">
              <a:buFont typeface="Wingdings" panose="05000000000000000000" pitchFamily="2" charset="2"/>
              <a:buChar char="ü"/>
            </a:pPr>
            <a:r>
              <a:rPr lang="en-US" dirty="0"/>
              <a:t>Event Schedules and Promos</a:t>
            </a:r>
          </a:p>
          <a:p>
            <a:pPr marL="285750" indent="-285750">
              <a:buFont typeface="Wingdings" panose="05000000000000000000" pitchFamily="2" charset="2"/>
              <a:buChar char="ü"/>
            </a:pPr>
            <a:r>
              <a:rPr lang="en-US" dirty="0"/>
              <a:t>Branches</a:t>
            </a:r>
          </a:p>
          <a:p>
            <a:pPr marL="742950" lvl="1" indent="-285750">
              <a:buFont typeface="Wingdings" panose="05000000000000000000" pitchFamily="2" charset="2"/>
              <a:buChar char="ü"/>
            </a:pPr>
            <a:r>
              <a:rPr lang="en-US" dirty="0"/>
              <a:t>Hot Item Model</a:t>
            </a:r>
          </a:p>
          <a:p>
            <a:pPr marL="742950" lvl="1" indent="-285750">
              <a:buFont typeface="Wingdings" panose="05000000000000000000" pitchFamily="2" charset="2"/>
              <a:buChar char="ü"/>
            </a:pPr>
            <a:r>
              <a:rPr lang="en-US" dirty="0"/>
              <a:t>MC Transfer Approval</a:t>
            </a:r>
          </a:p>
          <a:p>
            <a:pPr marL="742950" lvl="1" indent="-285750">
              <a:buFont typeface="Wingdings" panose="05000000000000000000" pitchFamily="2" charset="2"/>
              <a:buChar char="ü"/>
            </a:pPr>
            <a:r>
              <a:rPr lang="en-US" dirty="0"/>
              <a:t>SP Inquiry requirement on Customer Order</a:t>
            </a:r>
          </a:p>
          <a:p>
            <a:pPr marL="742950" lvl="1" indent="-285750">
              <a:buFont typeface="Wingdings" panose="05000000000000000000" pitchFamily="2" charset="2"/>
              <a:buChar char="ü"/>
            </a:pPr>
            <a:r>
              <a:rPr lang="en-US" dirty="0"/>
              <a:t>Allocate SP Inventory for Customer Order</a:t>
            </a:r>
          </a:p>
          <a:p>
            <a:pPr marL="285750" indent="-285750">
              <a:buFont typeface="Wingdings" panose="05000000000000000000" pitchFamily="2" charset="2"/>
              <a:buChar char="ü"/>
            </a:pPr>
            <a:r>
              <a:rPr lang="en-US" dirty="0"/>
              <a:t>POS Systems for BIR Accreditation</a:t>
            </a:r>
          </a:p>
          <a:p>
            <a:pPr marL="742950" lvl="1" indent="-285750">
              <a:buFont typeface="Wingdings" panose="05000000000000000000" pitchFamily="2" charset="2"/>
              <a:buChar char="ü"/>
            </a:pPr>
            <a:r>
              <a:rPr lang="en-US" dirty="0" err="1"/>
              <a:t>Spareparts</a:t>
            </a:r>
            <a:r>
              <a:rPr lang="en-US" dirty="0"/>
              <a:t> POS</a:t>
            </a:r>
          </a:p>
          <a:p>
            <a:pPr marL="742950" lvl="1" indent="-285750">
              <a:buFont typeface="Wingdings" panose="05000000000000000000" pitchFamily="2" charset="2"/>
              <a:buChar char="ü"/>
            </a:pPr>
            <a:r>
              <a:rPr lang="en-US" dirty="0"/>
              <a:t>Cellphone POS</a:t>
            </a:r>
          </a:p>
          <a:p>
            <a:pPr marL="742950" lvl="1" indent="-285750">
              <a:buFont typeface="Wingdings" panose="05000000000000000000" pitchFamily="2" charset="2"/>
              <a:buChar char="ü"/>
            </a:pPr>
            <a:r>
              <a:rPr lang="en-US" dirty="0"/>
              <a:t>Los </a:t>
            </a:r>
            <a:r>
              <a:rPr lang="en-US" dirty="0" err="1"/>
              <a:t>Pedritos</a:t>
            </a:r>
            <a:r>
              <a:rPr lang="en-US" dirty="0"/>
              <a:t> POS</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742950" lvl="1" indent="-285750">
              <a:buFont typeface="Wingdings" panose="05000000000000000000" pitchFamily="2" charset="2"/>
              <a:buChar char="ü"/>
            </a:pPr>
            <a:endParaRPr lang="en-US" dirty="0"/>
          </a:p>
          <a:p>
            <a:pPr marL="742950" lvl="1" indent="-285750">
              <a:buFont typeface="Wingdings" panose="05000000000000000000" pitchFamily="2" charset="2"/>
              <a:buChar char="ü"/>
            </a:pPr>
            <a:endParaRPr lang="en-US" dirty="0"/>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14" name="TextBox 13">
            <a:extLst>
              <a:ext uri="{FF2B5EF4-FFF2-40B4-BE49-F238E27FC236}">
                <a16:creationId xmlns:a16="http://schemas.microsoft.com/office/drawing/2014/main" id="{F1A67EC7-1F31-421F-9073-EB7B166D3358}"/>
              </a:ext>
            </a:extLst>
          </p:cNvPr>
          <p:cNvSpPr txBox="1"/>
          <p:nvPr/>
        </p:nvSpPr>
        <p:spPr>
          <a:xfrm>
            <a:off x="3839189" y="82707"/>
            <a:ext cx="5147435" cy="400110"/>
          </a:xfrm>
          <a:prstGeom prst="rect">
            <a:avLst/>
          </a:prstGeom>
          <a:noFill/>
        </p:spPr>
        <p:txBody>
          <a:bodyPr wrap="none" rtlCol="0">
            <a:spAutoFit/>
          </a:bodyPr>
          <a:lstStyle/>
          <a:p>
            <a:pPr algn="ctr"/>
            <a:r>
              <a:rPr lang="en-US" sz="2000" b="1" dirty="0">
                <a:solidFill>
                  <a:schemeClr val="bg1"/>
                </a:solidFill>
              </a:rPr>
              <a:t>System Development – 2020 Accomplishments</a:t>
            </a:r>
          </a:p>
        </p:txBody>
      </p:sp>
    </p:spTree>
    <p:extLst>
      <p:ext uri="{BB962C8B-B14F-4D97-AF65-F5344CB8AC3E}">
        <p14:creationId xmlns:p14="http://schemas.microsoft.com/office/powerpoint/2010/main" val="2139709410"/>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nvGraphicFramePr>
        <p:xfrm>
          <a:off x="0" y="571595"/>
          <a:ext cx="9144000"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Accomplishments</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0" y="689201"/>
            <a:ext cx="3167342" cy="4247317"/>
          </a:xfrm>
          <a:prstGeom prst="rect">
            <a:avLst/>
          </a:prstGeom>
          <a:noFill/>
        </p:spPr>
        <p:txBody>
          <a:bodyPr wrap="none" rtlCol="0">
            <a:spAutoFit/>
          </a:bodyPr>
          <a:lstStyle/>
          <a:p>
            <a:pPr marL="285750" indent="-285750">
              <a:buFont typeface="Wingdings" panose="05000000000000000000" pitchFamily="2" charset="2"/>
              <a:buChar char="ü"/>
            </a:pPr>
            <a:r>
              <a:rPr lang="en-US" dirty="0"/>
              <a:t>Engineering</a:t>
            </a:r>
          </a:p>
          <a:p>
            <a:pPr marL="742950" lvl="1" indent="-285750">
              <a:buFont typeface="Wingdings" panose="05000000000000000000" pitchFamily="2" charset="2"/>
              <a:buChar char="ü"/>
            </a:pPr>
            <a:r>
              <a:rPr lang="en-US" dirty="0"/>
              <a:t>Purchasing Approval</a:t>
            </a:r>
          </a:p>
          <a:p>
            <a:pPr marL="742950" lvl="1" indent="-285750">
              <a:buFont typeface="Wingdings" panose="05000000000000000000" pitchFamily="2" charset="2"/>
              <a:buChar char="ü"/>
            </a:pPr>
            <a:r>
              <a:rPr lang="en-US" dirty="0"/>
              <a:t>Petty Cash</a:t>
            </a:r>
          </a:p>
          <a:p>
            <a:pPr marL="285750" indent="-285750">
              <a:buFont typeface="Wingdings" panose="05000000000000000000" pitchFamily="2" charset="2"/>
              <a:buChar char="ü"/>
            </a:pPr>
            <a:r>
              <a:rPr lang="en-US" dirty="0"/>
              <a:t>Car Trade</a:t>
            </a:r>
          </a:p>
          <a:p>
            <a:pPr marL="742950" lvl="1" indent="-285750">
              <a:buFont typeface="Wingdings" panose="05000000000000000000" pitchFamily="2" charset="2"/>
              <a:buChar char="ü"/>
            </a:pPr>
            <a:r>
              <a:rPr lang="en-US" dirty="0"/>
              <a:t>Credit Application</a:t>
            </a:r>
          </a:p>
          <a:p>
            <a:pPr marL="285750" indent="-285750">
              <a:buFont typeface="Wingdings" panose="05000000000000000000" pitchFamily="2" charset="2"/>
              <a:buChar char="ü"/>
            </a:pPr>
            <a:r>
              <a:rPr lang="en-US" dirty="0"/>
              <a:t>Collection</a:t>
            </a:r>
          </a:p>
          <a:p>
            <a:pPr marL="742950" lvl="1" indent="-285750">
              <a:buFont typeface="Wingdings" panose="05000000000000000000" pitchFamily="2" charset="2"/>
              <a:buChar char="ü"/>
            </a:pPr>
            <a:r>
              <a:rPr lang="en-US" dirty="0"/>
              <a:t>Rebate Escalation</a:t>
            </a:r>
          </a:p>
          <a:p>
            <a:pPr marL="285750" indent="-285750">
              <a:buFont typeface="Wingdings" panose="05000000000000000000" pitchFamily="2" charset="2"/>
              <a:buChar char="ü"/>
            </a:pPr>
            <a:r>
              <a:rPr lang="en-US" dirty="0"/>
              <a:t>Finance Management</a:t>
            </a:r>
          </a:p>
          <a:p>
            <a:pPr marL="742950" lvl="1" indent="-285750">
              <a:buFont typeface="Wingdings" panose="05000000000000000000" pitchFamily="2" charset="2"/>
              <a:buChar char="ü"/>
            </a:pPr>
            <a:r>
              <a:rPr lang="en-US" dirty="0"/>
              <a:t>Journal Entry</a:t>
            </a:r>
          </a:p>
          <a:p>
            <a:pPr marL="742950" lvl="1" indent="-285750">
              <a:buFont typeface="Wingdings" panose="05000000000000000000" pitchFamily="2" charset="2"/>
              <a:buChar char="ü"/>
            </a:pPr>
            <a:r>
              <a:rPr lang="en-US" dirty="0"/>
              <a:t>Disbursement(Detailed)</a:t>
            </a:r>
          </a:p>
          <a:p>
            <a:pPr marL="742950" lvl="1"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742950" lvl="1" indent="-285750">
              <a:buFont typeface="Wingdings" panose="05000000000000000000" pitchFamily="2" charset="2"/>
              <a:buChar char="ü"/>
            </a:pPr>
            <a:endParaRPr lang="en-US" dirty="0"/>
          </a:p>
          <a:p>
            <a:pPr marL="742950" lvl="1" indent="-285750">
              <a:buFont typeface="Wingdings" panose="05000000000000000000" pitchFamily="2" charset="2"/>
              <a:buChar char="ü"/>
            </a:pPr>
            <a:endParaRPr lang="en-US" dirty="0"/>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14" name="TextBox 13">
            <a:extLst>
              <a:ext uri="{FF2B5EF4-FFF2-40B4-BE49-F238E27FC236}">
                <a16:creationId xmlns:a16="http://schemas.microsoft.com/office/drawing/2014/main" id="{F1A67EC7-1F31-421F-9073-EB7B166D3358}"/>
              </a:ext>
            </a:extLst>
          </p:cNvPr>
          <p:cNvSpPr txBox="1"/>
          <p:nvPr/>
        </p:nvSpPr>
        <p:spPr>
          <a:xfrm>
            <a:off x="3678187" y="82707"/>
            <a:ext cx="5469447" cy="400110"/>
          </a:xfrm>
          <a:prstGeom prst="rect">
            <a:avLst/>
          </a:prstGeom>
          <a:noFill/>
        </p:spPr>
        <p:txBody>
          <a:bodyPr wrap="none" rtlCol="0">
            <a:spAutoFit/>
          </a:bodyPr>
          <a:lstStyle/>
          <a:p>
            <a:pPr algn="ctr"/>
            <a:r>
              <a:rPr lang="en-US" sz="2000" b="1" dirty="0">
                <a:solidFill>
                  <a:schemeClr val="bg1"/>
                </a:solidFill>
              </a:rPr>
              <a:t>System Development – Ongoing/Pending Projects</a:t>
            </a:r>
          </a:p>
        </p:txBody>
      </p:sp>
    </p:spTree>
    <p:extLst>
      <p:ext uri="{BB962C8B-B14F-4D97-AF65-F5344CB8AC3E}">
        <p14:creationId xmlns:p14="http://schemas.microsoft.com/office/powerpoint/2010/main" val="1648877721"/>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8383</TotalTime>
  <Words>394</Words>
  <Application>Microsoft Office PowerPoint</Application>
  <PresentationFormat>On-screen Show (4:3)</PresentationFormat>
  <Paragraphs>60</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Adobe Gothic Std B</vt:lpstr>
      <vt:lpstr>Arial</vt:lpstr>
      <vt:lpstr>Arial Black</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Jet Omaguing</dc:creator>
  <cp:lastModifiedBy>Michael Cuison</cp:lastModifiedBy>
  <cp:revision>884</cp:revision>
  <dcterms:created xsi:type="dcterms:W3CDTF">2018-06-27T09:25:47Z</dcterms:created>
  <dcterms:modified xsi:type="dcterms:W3CDTF">2020-12-11T00:18:54Z</dcterms:modified>
</cp:coreProperties>
</file>