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85" r:id="rId3"/>
    <p:sldId id="286" r:id="rId4"/>
    <p:sldId id="287" r:id="rId5"/>
    <p:sldId id="288" r:id="rId6"/>
    <p:sldId id="289" r:id="rId7"/>
    <p:sldId id="290" r:id="rId8"/>
    <p:sldId id="291"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79" autoAdjust="0"/>
  </p:normalViewPr>
  <p:slideViewPr>
    <p:cSldViewPr>
      <p:cViewPr varScale="1">
        <p:scale>
          <a:sx n="89" d="100"/>
          <a:sy n="89" d="100"/>
        </p:scale>
        <p:origin x="2244"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A0F31B-D664-4711-B3CE-93AC65ED7568}" type="datetimeFigureOut">
              <a:rPr lang="en-US" smtClean="0"/>
              <a:t>12/5/2019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3EDEA0-F571-42C9-9CB0-8A45EFF2E4C6}" type="slidenum">
              <a:rPr lang="en-US" smtClean="0"/>
              <a:t>‹#›</a:t>
            </a:fld>
            <a:endParaRPr lang="en-US"/>
          </a:p>
        </p:txBody>
      </p:sp>
    </p:spTree>
    <p:extLst>
      <p:ext uri="{BB962C8B-B14F-4D97-AF65-F5344CB8AC3E}">
        <p14:creationId xmlns:p14="http://schemas.microsoft.com/office/powerpoint/2010/main" val="266600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2019 has been a challenging year for all of us. Today, I will report our system development and update accomplishment for this year. But before that, I would like to thank our System Support, Hardware Support and the Implementation Group in handling branch’ and department concerns that help us the Engineering Group to focus on our programming and accomplish new developments and system updates. Here are the applications that the MIS Department achieve in 2019.</a:t>
            </a:r>
          </a:p>
        </p:txBody>
      </p:sp>
      <p:sp>
        <p:nvSpPr>
          <p:cNvPr id="4" name="Slide Number Placeholder 3"/>
          <p:cNvSpPr>
            <a:spLocks noGrp="1"/>
          </p:cNvSpPr>
          <p:nvPr>
            <p:ph type="sldNum" sz="quarter" idx="5"/>
          </p:nvPr>
        </p:nvSpPr>
        <p:spPr/>
        <p:txBody>
          <a:bodyPr/>
          <a:lstStyle/>
          <a:p>
            <a:fld id="{C83EDEA0-F571-42C9-9CB0-8A45EFF2E4C6}" type="slidenum">
              <a:rPr lang="en-US" smtClean="0"/>
              <a:t>1</a:t>
            </a:fld>
            <a:endParaRPr lang="en-US"/>
          </a:p>
        </p:txBody>
      </p:sp>
    </p:spTree>
    <p:extLst>
      <p:ext uri="{BB962C8B-B14F-4D97-AF65-F5344CB8AC3E}">
        <p14:creationId xmlns:p14="http://schemas.microsoft.com/office/powerpoint/2010/main" val="1229262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2</a:t>
            </a:fld>
            <a:endParaRPr lang="en-US"/>
          </a:p>
        </p:txBody>
      </p:sp>
    </p:spTree>
    <p:extLst>
      <p:ext uri="{BB962C8B-B14F-4D97-AF65-F5344CB8AC3E}">
        <p14:creationId xmlns:p14="http://schemas.microsoft.com/office/powerpoint/2010/main" val="2495894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3</a:t>
            </a:fld>
            <a:endParaRPr lang="en-US"/>
          </a:p>
        </p:txBody>
      </p:sp>
    </p:spTree>
    <p:extLst>
      <p:ext uri="{BB962C8B-B14F-4D97-AF65-F5344CB8AC3E}">
        <p14:creationId xmlns:p14="http://schemas.microsoft.com/office/powerpoint/2010/main" val="1372872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4</a:t>
            </a:fld>
            <a:endParaRPr lang="en-US"/>
          </a:p>
        </p:txBody>
      </p:sp>
    </p:spTree>
    <p:extLst>
      <p:ext uri="{BB962C8B-B14F-4D97-AF65-F5344CB8AC3E}">
        <p14:creationId xmlns:p14="http://schemas.microsoft.com/office/powerpoint/2010/main" val="1599757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5</a:t>
            </a:fld>
            <a:endParaRPr lang="en-US"/>
          </a:p>
        </p:txBody>
      </p:sp>
    </p:spTree>
    <p:extLst>
      <p:ext uri="{BB962C8B-B14F-4D97-AF65-F5344CB8AC3E}">
        <p14:creationId xmlns:p14="http://schemas.microsoft.com/office/powerpoint/2010/main" val="1284438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6</a:t>
            </a:fld>
            <a:endParaRPr lang="en-US"/>
          </a:p>
        </p:txBody>
      </p:sp>
    </p:spTree>
    <p:extLst>
      <p:ext uri="{BB962C8B-B14F-4D97-AF65-F5344CB8AC3E}">
        <p14:creationId xmlns:p14="http://schemas.microsoft.com/office/powerpoint/2010/main" val="3377667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Clear Team Vison</a:t>
            </a:r>
          </a:p>
          <a:p>
            <a:pPr marL="228600" indent="-228600">
              <a:buAutoNum type="arabicPeriod"/>
            </a:pPr>
            <a:r>
              <a:rPr lang="en-US" dirty="0"/>
              <a:t>Set Expectations</a:t>
            </a:r>
          </a:p>
          <a:p>
            <a:pPr marL="228600" indent="-228600">
              <a:buAutoNum type="arabicPeriod"/>
            </a:pPr>
            <a:r>
              <a:rPr lang="en-US" dirty="0"/>
              <a:t>Achievable Goals</a:t>
            </a:r>
          </a:p>
          <a:p>
            <a:pPr marL="228600" indent="-228600">
              <a:buAutoNum type="arabicPeriod"/>
            </a:pPr>
            <a:r>
              <a:rPr lang="en-US" dirty="0"/>
              <a:t>Focus on Strengths</a:t>
            </a:r>
          </a:p>
          <a:p>
            <a:pPr marL="228600" indent="-228600">
              <a:buAutoNum type="arabicPeriod"/>
            </a:pPr>
            <a:r>
              <a:rPr lang="en-US" dirty="0"/>
              <a:t>Build Unity</a:t>
            </a:r>
          </a:p>
          <a:p>
            <a:pPr marL="228600" indent="-228600">
              <a:buAutoNum type="arabicPeriod"/>
            </a:pPr>
            <a:r>
              <a:rPr lang="en-US" dirty="0"/>
              <a:t>Encourage Innovation</a:t>
            </a:r>
          </a:p>
          <a:p>
            <a:pPr marL="228600" indent="-228600">
              <a:buAutoNum type="arabicPeriod"/>
            </a:pPr>
            <a:r>
              <a:rPr lang="en-US" dirty="0"/>
              <a:t>Keep your word</a:t>
            </a:r>
          </a:p>
          <a:p>
            <a:pPr marL="228600" indent="-228600">
              <a:buAutoNum type="arabicPeriod"/>
            </a:pPr>
            <a:r>
              <a:rPr lang="en-US" dirty="0"/>
              <a:t>Honor Reasonable Expectations</a:t>
            </a:r>
          </a:p>
          <a:p>
            <a:pPr marL="228600" indent="-228600">
              <a:buAutoNum type="arabicPeriod"/>
            </a:pPr>
            <a:r>
              <a:rPr lang="en-US" dirty="0"/>
              <a:t>Promote Socialization</a:t>
            </a:r>
          </a:p>
          <a:p>
            <a:pPr marL="228600" indent="-228600">
              <a:buAutoNum type="arabicPeriod"/>
            </a:pPr>
            <a:r>
              <a:rPr lang="en-US" dirty="0"/>
              <a:t>Reward Good Behavior</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7</a:t>
            </a:fld>
            <a:endParaRPr lang="en-US"/>
          </a:p>
        </p:txBody>
      </p:sp>
    </p:spTree>
    <p:extLst>
      <p:ext uri="{BB962C8B-B14F-4D97-AF65-F5344CB8AC3E}">
        <p14:creationId xmlns:p14="http://schemas.microsoft.com/office/powerpoint/2010/main" val="2239313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3EDEA0-F571-42C9-9CB0-8A45EFF2E4C6}" type="slidenum">
              <a:rPr lang="en-US" smtClean="0"/>
              <a:t>8</a:t>
            </a:fld>
            <a:endParaRPr lang="en-US"/>
          </a:p>
        </p:txBody>
      </p:sp>
    </p:spTree>
    <p:extLst>
      <p:ext uri="{BB962C8B-B14F-4D97-AF65-F5344CB8AC3E}">
        <p14:creationId xmlns:p14="http://schemas.microsoft.com/office/powerpoint/2010/main" val="2399161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592A186-9278-467F-B8DB-306F60532990}" type="datetimeFigureOut">
              <a:rPr lang="en-US" smtClean="0"/>
              <a:t>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95172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2A186-9278-467F-B8DB-306F60532990}" type="datetimeFigureOut">
              <a:rPr lang="en-US" smtClean="0"/>
              <a:t>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2909837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2A186-9278-467F-B8DB-306F60532990}" type="datetimeFigureOut">
              <a:rPr lang="en-US" smtClean="0"/>
              <a:t>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2885296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92A186-9278-467F-B8DB-306F60532990}" type="datetimeFigureOut">
              <a:rPr lang="en-US" smtClean="0"/>
              <a:t>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4189463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92A186-9278-467F-B8DB-306F60532990}" type="datetimeFigureOut">
              <a:rPr lang="en-US" smtClean="0"/>
              <a:t>12/5/2019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185595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92A186-9278-467F-B8DB-306F60532990}" type="datetimeFigureOut">
              <a:rPr lang="en-US" smtClean="0"/>
              <a:t>12/5/2019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3117358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2A186-9278-467F-B8DB-306F60532990}" type="datetimeFigureOut">
              <a:rPr lang="en-US" smtClean="0"/>
              <a:t>12/5/2019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2681704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2A186-9278-467F-B8DB-306F60532990}" type="datetimeFigureOut">
              <a:rPr lang="en-US" smtClean="0"/>
              <a:t>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253137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2A186-9278-467F-B8DB-306F60532990}" type="datetimeFigureOut">
              <a:rPr lang="en-US" smtClean="0"/>
              <a:t>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3938995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2A186-9278-467F-B8DB-306F60532990}" type="datetimeFigureOut">
              <a:rPr lang="en-US" smtClean="0"/>
              <a:t>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2616431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2A186-9278-467F-B8DB-306F60532990}" type="datetimeFigureOut">
              <a:rPr lang="en-US" smtClean="0"/>
              <a:t>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B18922-DB8F-4C9A-A315-012EB8C90C1A}" type="slidenum">
              <a:rPr lang="en-US" smtClean="0"/>
              <a:t>‹#›</a:t>
            </a:fld>
            <a:endParaRPr lang="en-US"/>
          </a:p>
        </p:txBody>
      </p:sp>
    </p:spTree>
    <p:extLst>
      <p:ext uri="{BB962C8B-B14F-4D97-AF65-F5344CB8AC3E}">
        <p14:creationId xmlns:p14="http://schemas.microsoft.com/office/powerpoint/2010/main" val="334424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2A186-9278-467F-B8DB-306F60532990}" type="datetimeFigureOut">
              <a:rPr lang="en-US" smtClean="0"/>
              <a:t>12/5/2019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B18922-DB8F-4C9A-A315-012EB8C90C1A}" type="slidenum">
              <a:rPr lang="en-US" smtClean="0"/>
              <a:t>‹#›</a:t>
            </a:fld>
            <a:endParaRPr lang="en-US"/>
          </a:p>
        </p:txBody>
      </p:sp>
    </p:spTree>
    <p:extLst>
      <p:ext uri="{BB962C8B-B14F-4D97-AF65-F5344CB8AC3E}">
        <p14:creationId xmlns:p14="http://schemas.microsoft.com/office/powerpoint/2010/main" val="3645878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sp>
        <p:nvSpPr>
          <p:cNvPr id="3" name="TextBox 2"/>
          <p:cNvSpPr txBox="1"/>
          <p:nvPr/>
        </p:nvSpPr>
        <p:spPr>
          <a:xfrm>
            <a:off x="1" y="1600200"/>
            <a:ext cx="9144000" cy="3139321"/>
          </a:xfrm>
          <a:prstGeom prst="rect">
            <a:avLst/>
          </a:prstGeom>
          <a:noFill/>
        </p:spPr>
        <p:txBody>
          <a:bodyPr wrap="square" rtlCol="0">
            <a:spAutoFit/>
          </a:bodyPr>
          <a:lstStyle/>
          <a:p>
            <a:pPr algn="ctr"/>
            <a:r>
              <a:rPr lang="en-US" sz="6600" b="1" dirty="0">
                <a:ln w="17780" cmpd="sng">
                  <a:solidFill>
                    <a:srgbClr val="FFFFFF"/>
                  </a:solidFill>
                  <a:prstDash val="solid"/>
                  <a:miter lim="800000"/>
                </a:ln>
                <a:solidFill>
                  <a:schemeClr val="bg1">
                    <a:lumMod val="85000"/>
                  </a:schemeClr>
                </a:solidFill>
                <a:effectLst>
                  <a:outerShdw blurRad="50800" algn="tl" rotWithShape="0">
                    <a:srgbClr val="000000"/>
                  </a:outerShdw>
                </a:effectLst>
                <a:latin typeface="Arial" panose="020B0604020202020204" pitchFamily="34" charset="0"/>
                <a:cs typeface="Arial" panose="020B0604020202020204" pitchFamily="34" charset="0"/>
              </a:rPr>
              <a:t>Software Engineering Accomplishment Report 2019</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Tree>
    <p:extLst>
      <p:ext uri="{BB962C8B-B14F-4D97-AF65-F5344CB8AC3E}">
        <p14:creationId xmlns:p14="http://schemas.microsoft.com/office/powerpoint/2010/main" val="2386944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5" name="TextBox 4"/>
          <p:cNvSpPr txBox="1"/>
          <p:nvPr/>
        </p:nvSpPr>
        <p:spPr>
          <a:xfrm>
            <a:off x="701748" y="86380"/>
            <a:ext cx="3669531" cy="523220"/>
          </a:xfrm>
          <a:prstGeom prst="rect">
            <a:avLst/>
          </a:prstGeom>
          <a:noFill/>
        </p:spPr>
        <p:txBody>
          <a:bodyPr wrap="none" rtlCol="0">
            <a:spAutoFit/>
          </a:bodyPr>
          <a:lstStyle/>
          <a:p>
            <a:r>
              <a:rPr lang="en-US" sz="2800" dirty="0">
                <a:solidFill>
                  <a:schemeClr val="tx1">
                    <a:lumMod val="95000"/>
                    <a:lumOff val="5000"/>
                  </a:schemeClr>
                </a:solidFill>
                <a:latin typeface="Arial" panose="020B0604020202020204" pitchFamily="34" charset="0"/>
                <a:cs typeface="Arial" panose="020B0604020202020204" pitchFamily="34" charset="0"/>
              </a:rPr>
              <a:t>ACCOMPLISHMENT</a:t>
            </a:r>
          </a:p>
        </p:txBody>
      </p:sp>
      <p:sp>
        <p:nvSpPr>
          <p:cNvPr id="9" name="TextBox 8"/>
          <p:cNvSpPr txBox="1"/>
          <p:nvPr/>
        </p:nvSpPr>
        <p:spPr>
          <a:xfrm>
            <a:off x="45021" y="725716"/>
            <a:ext cx="9098979" cy="4739759"/>
          </a:xfrm>
          <a:prstGeom prst="rect">
            <a:avLst/>
          </a:prstGeom>
          <a:noFill/>
        </p:spPr>
        <p:txBody>
          <a:bodyPr wrap="square" rtlCol="0">
            <a:spAutoFit/>
          </a:bodyPr>
          <a:lstStyle/>
          <a:p>
            <a:endParaRPr lang="en-US" sz="1200" b="1" dirty="0">
              <a:solidFill>
                <a:schemeClr val="bg1">
                  <a:lumMod val="85000"/>
                </a:schemeClr>
              </a:solidFill>
              <a:latin typeface="Arial" panose="020B0604020202020204" pitchFamily="34" charset="0"/>
              <a:cs typeface="Arial" panose="020B0604020202020204" pitchFamily="34" charset="0"/>
            </a:endParaRPr>
          </a:p>
          <a:p>
            <a:r>
              <a:rPr lang="en-US" sz="2000" b="1" dirty="0">
                <a:solidFill>
                  <a:schemeClr val="bg1">
                    <a:lumMod val="85000"/>
                  </a:schemeClr>
                </a:solidFill>
                <a:latin typeface="Arial" panose="020B0604020202020204" pitchFamily="34" charset="0"/>
                <a:cs typeface="Arial" panose="020B0604020202020204" pitchFamily="34" charset="0"/>
              </a:rPr>
              <a:t>Branch’ Applications</a:t>
            </a:r>
          </a:p>
          <a:p>
            <a:endParaRPr lang="en-US" sz="1200" b="1" dirty="0">
              <a:solidFill>
                <a:schemeClr val="bg1">
                  <a:lumMod val="85000"/>
                </a:schemeClr>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G-Card Systems (QR Code)</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Employee Login to Other Branch</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Windows G (</a:t>
            </a:r>
            <a:r>
              <a:rPr lang="en-US" sz="2400" dirty="0" err="1">
                <a:solidFill>
                  <a:srgbClr val="FFC000"/>
                </a:solidFill>
                <a:latin typeface="Arial" panose="020B0604020202020204" pitchFamily="34" charset="0"/>
                <a:cs typeface="Arial" panose="020B0604020202020204" pitchFamily="34" charset="0"/>
              </a:rPr>
              <a:t>IntegSys</a:t>
            </a:r>
            <a:r>
              <a:rPr lang="en-US" sz="2400" dirty="0">
                <a:solidFill>
                  <a:srgbClr val="FFC000"/>
                </a:solidFill>
                <a:latin typeface="Arial" panose="020B0604020202020204" pitchFamily="34" charset="0"/>
                <a:cs typeface="Arial" panose="020B0604020202020204" pitchFamily="34" charset="0"/>
              </a:rPr>
              <a:t> and Telecom)</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Payroll Manager Updates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MP Product Inquiry</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MC Transfer Approval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Hot Item Model Approval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MC First Payment Approval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Petty Cash</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Unencoded Transaction Entry</a:t>
            </a:r>
          </a:p>
          <a:p>
            <a:pPr marL="742950" lvl="1" indent="-285750">
              <a:buFont typeface="Wingdings" pitchFamily="2" charset="2"/>
              <a:buChar char="Ø"/>
            </a:pPr>
            <a:endParaRPr lang="en-US"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6834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5" name="TextBox 4"/>
          <p:cNvSpPr txBox="1"/>
          <p:nvPr/>
        </p:nvSpPr>
        <p:spPr>
          <a:xfrm>
            <a:off x="701748" y="86380"/>
            <a:ext cx="3576620" cy="523220"/>
          </a:xfrm>
          <a:prstGeom prst="rect">
            <a:avLst/>
          </a:prstGeom>
          <a:noFill/>
        </p:spPr>
        <p:txBody>
          <a:bodyPr wrap="none" rtlCol="0">
            <a:spAutoFit/>
          </a:bodyPr>
          <a:lstStyle/>
          <a:p>
            <a:r>
              <a:rPr lang="en-US" sz="2800" dirty="0">
                <a:solidFill>
                  <a:schemeClr val="tx1">
                    <a:lumMod val="95000"/>
                    <a:lumOff val="5000"/>
                  </a:schemeClr>
                </a:solidFill>
                <a:latin typeface="Arial" panose="020B0604020202020204" pitchFamily="34" charset="0"/>
                <a:cs typeface="Arial" panose="020B0604020202020204" pitchFamily="34" charset="0"/>
              </a:rPr>
              <a:t>ACCOMPLISHMENT</a:t>
            </a:r>
          </a:p>
        </p:txBody>
      </p:sp>
      <p:sp>
        <p:nvSpPr>
          <p:cNvPr id="9" name="TextBox 8"/>
          <p:cNvSpPr txBox="1"/>
          <p:nvPr/>
        </p:nvSpPr>
        <p:spPr>
          <a:xfrm>
            <a:off x="45021" y="725716"/>
            <a:ext cx="9098979" cy="4524315"/>
          </a:xfrm>
          <a:prstGeom prst="rect">
            <a:avLst/>
          </a:prstGeom>
          <a:noFill/>
        </p:spPr>
        <p:txBody>
          <a:bodyPr wrap="square" rtlCol="0">
            <a:spAutoFit/>
          </a:bodyPr>
          <a:lstStyle/>
          <a:p>
            <a:r>
              <a:rPr lang="en-US" sz="2400" b="1" dirty="0">
                <a:solidFill>
                  <a:schemeClr val="bg1">
                    <a:lumMod val="85000"/>
                  </a:schemeClr>
                </a:solidFill>
                <a:latin typeface="Arial" panose="020B0604020202020204" pitchFamily="34" charset="0"/>
                <a:cs typeface="Arial" panose="020B0604020202020204" pitchFamily="34" charset="0"/>
              </a:rPr>
              <a:t>Main Office’ Applications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Engineering Payroll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General Purchasing and Inventory</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TLM Outgoing Calls for Selling Mobile Phone</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TLM Outgoing Calls for Approved Credit Applications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MIS – New Query Manager</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MIS – New System User Manager</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Finance – Insurance (TPL/COC) Posting</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E-Documents</a:t>
            </a: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a:p>
            <a:r>
              <a:rPr lang="en-US" sz="2400" b="1" dirty="0">
                <a:solidFill>
                  <a:schemeClr val="bg1">
                    <a:lumMod val="85000"/>
                  </a:schemeClr>
                </a:solidFill>
                <a:latin typeface="Arial" panose="020B0604020202020204" pitchFamily="34" charset="0"/>
                <a:cs typeface="Arial" panose="020B0604020202020204" pitchFamily="34" charset="0"/>
              </a:rPr>
              <a:t>Monarch</a:t>
            </a: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Meal Voucher</a:t>
            </a:r>
          </a:p>
        </p:txBody>
      </p:sp>
    </p:spTree>
    <p:extLst>
      <p:ext uri="{BB962C8B-B14F-4D97-AF65-F5344CB8AC3E}">
        <p14:creationId xmlns:p14="http://schemas.microsoft.com/office/powerpoint/2010/main" val="94574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5" name="TextBox 4"/>
          <p:cNvSpPr txBox="1"/>
          <p:nvPr/>
        </p:nvSpPr>
        <p:spPr>
          <a:xfrm>
            <a:off x="701748" y="86380"/>
            <a:ext cx="3576620" cy="523220"/>
          </a:xfrm>
          <a:prstGeom prst="rect">
            <a:avLst/>
          </a:prstGeom>
          <a:noFill/>
        </p:spPr>
        <p:txBody>
          <a:bodyPr wrap="none" rtlCol="0">
            <a:spAutoFit/>
          </a:bodyPr>
          <a:lstStyle/>
          <a:p>
            <a:r>
              <a:rPr lang="en-US" sz="2800" dirty="0">
                <a:solidFill>
                  <a:schemeClr val="tx1">
                    <a:lumMod val="95000"/>
                    <a:lumOff val="5000"/>
                  </a:schemeClr>
                </a:solidFill>
                <a:latin typeface="Arial" panose="020B0604020202020204" pitchFamily="34" charset="0"/>
                <a:cs typeface="Arial" panose="020B0604020202020204" pitchFamily="34" charset="0"/>
              </a:rPr>
              <a:t>ACCOMPLISHMENT</a:t>
            </a:r>
          </a:p>
        </p:txBody>
      </p:sp>
      <p:sp>
        <p:nvSpPr>
          <p:cNvPr id="9" name="TextBox 8"/>
          <p:cNvSpPr txBox="1"/>
          <p:nvPr/>
        </p:nvSpPr>
        <p:spPr>
          <a:xfrm>
            <a:off x="45021" y="725716"/>
            <a:ext cx="9098979" cy="5632311"/>
          </a:xfrm>
          <a:prstGeom prst="rect">
            <a:avLst/>
          </a:prstGeom>
          <a:noFill/>
        </p:spPr>
        <p:txBody>
          <a:bodyPr wrap="square" rtlCol="0">
            <a:spAutoFit/>
          </a:bodyPr>
          <a:lstStyle/>
          <a:p>
            <a:r>
              <a:rPr lang="en-US" sz="2400" b="1" dirty="0">
                <a:solidFill>
                  <a:schemeClr val="bg1">
                    <a:lumMod val="85000"/>
                  </a:schemeClr>
                </a:solidFill>
                <a:latin typeface="Arial" panose="020B0604020202020204" pitchFamily="34" charset="0"/>
                <a:cs typeface="Arial" panose="020B0604020202020204" pitchFamily="34" charset="0"/>
              </a:rPr>
              <a:t>Android Apps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Guanzon App</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Knox Guard</a:t>
            </a:r>
          </a:p>
          <a:p>
            <a:pPr marL="742950" lvl="1" indent="-285750">
              <a:buFont typeface="Wingdings" pitchFamily="2" charset="2"/>
              <a:buChar char="Ø"/>
            </a:pPr>
            <a:r>
              <a:rPr lang="en-US" sz="2400" dirty="0" err="1">
                <a:solidFill>
                  <a:srgbClr val="FFC000"/>
                </a:solidFill>
                <a:latin typeface="Arial" panose="020B0604020202020204" pitchFamily="34" charset="0"/>
                <a:cs typeface="Arial" panose="020B0604020202020204" pitchFamily="34" charset="0"/>
              </a:rPr>
              <a:t>Cashcount</a:t>
            </a: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CI Approval Code Issuance</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Code Approval updates for Area Heads</a:t>
            </a:r>
          </a:p>
          <a:p>
            <a:pPr lvl="1"/>
            <a:endParaRPr lang="en-US" sz="2400" dirty="0">
              <a:solidFill>
                <a:srgbClr val="FFC000"/>
              </a:solidFill>
              <a:latin typeface="Arial" panose="020B0604020202020204" pitchFamily="34" charset="0"/>
              <a:cs typeface="Arial" panose="020B0604020202020204" pitchFamily="34" charset="0"/>
            </a:endParaRPr>
          </a:p>
          <a:p>
            <a:r>
              <a:rPr lang="en-US" sz="2400" b="1" dirty="0">
                <a:solidFill>
                  <a:schemeClr val="bg1">
                    <a:lumMod val="85000"/>
                  </a:schemeClr>
                </a:solidFill>
                <a:latin typeface="Arial" panose="020B0604020202020204" pitchFamily="34" charset="0"/>
                <a:cs typeface="Arial" panose="020B0604020202020204" pitchFamily="34" charset="0"/>
              </a:rPr>
              <a:t>SMS Processing</a:t>
            </a: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CI Approval Code Issuance</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Payment Text Request</a:t>
            </a:r>
          </a:p>
          <a:p>
            <a:pPr lvl="1"/>
            <a:endParaRPr lang="en-US" sz="2400" dirty="0">
              <a:solidFill>
                <a:srgbClr val="FFC000"/>
              </a:solidFill>
              <a:latin typeface="Arial" panose="020B0604020202020204" pitchFamily="34" charset="0"/>
              <a:cs typeface="Arial" panose="020B0604020202020204" pitchFamily="34" charset="0"/>
            </a:endParaRPr>
          </a:p>
          <a:p>
            <a:r>
              <a:rPr lang="en-US" sz="2400" b="1" dirty="0">
                <a:solidFill>
                  <a:schemeClr val="bg1">
                    <a:lumMod val="85000"/>
                  </a:schemeClr>
                </a:solidFill>
                <a:latin typeface="Arial" panose="020B0604020202020204" pitchFamily="34" charset="0"/>
                <a:cs typeface="Arial" panose="020B0604020202020204" pitchFamily="34" charset="0"/>
              </a:rPr>
              <a:t>Web Applications</a:t>
            </a: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E-Commerce</a:t>
            </a:r>
          </a:p>
          <a:p>
            <a:pPr lvl="1"/>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223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5" name="TextBox 4"/>
          <p:cNvSpPr txBox="1"/>
          <p:nvPr/>
        </p:nvSpPr>
        <p:spPr>
          <a:xfrm>
            <a:off x="701748" y="86380"/>
            <a:ext cx="3576620" cy="523220"/>
          </a:xfrm>
          <a:prstGeom prst="rect">
            <a:avLst/>
          </a:prstGeom>
          <a:noFill/>
        </p:spPr>
        <p:txBody>
          <a:bodyPr wrap="none" rtlCol="0">
            <a:spAutoFit/>
          </a:bodyPr>
          <a:lstStyle/>
          <a:p>
            <a:r>
              <a:rPr lang="en-US" sz="2800" dirty="0">
                <a:solidFill>
                  <a:schemeClr val="tx1">
                    <a:lumMod val="95000"/>
                    <a:lumOff val="5000"/>
                  </a:schemeClr>
                </a:solidFill>
                <a:latin typeface="Arial" panose="020B0604020202020204" pitchFamily="34" charset="0"/>
                <a:cs typeface="Arial" panose="020B0604020202020204" pitchFamily="34" charset="0"/>
              </a:rPr>
              <a:t>ACCOMPLISHMENT</a:t>
            </a:r>
          </a:p>
        </p:txBody>
      </p:sp>
      <p:sp>
        <p:nvSpPr>
          <p:cNvPr id="9" name="TextBox 8"/>
          <p:cNvSpPr txBox="1"/>
          <p:nvPr/>
        </p:nvSpPr>
        <p:spPr>
          <a:xfrm>
            <a:off x="45021" y="725716"/>
            <a:ext cx="9098979" cy="3785652"/>
          </a:xfrm>
          <a:prstGeom prst="rect">
            <a:avLst/>
          </a:prstGeom>
          <a:noFill/>
        </p:spPr>
        <p:txBody>
          <a:bodyPr wrap="square" rtlCol="0">
            <a:spAutoFit/>
          </a:bodyPr>
          <a:lstStyle/>
          <a:p>
            <a:r>
              <a:rPr lang="en-US" sz="2400" b="1" dirty="0">
                <a:solidFill>
                  <a:schemeClr val="bg1">
                    <a:lumMod val="85000"/>
                  </a:schemeClr>
                </a:solidFill>
                <a:latin typeface="Arial" panose="020B0604020202020204" pitchFamily="34" charset="0"/>
                <a:cs typeface="Arial" panose="020B0604020202020204" pitchFamily="34" charset="0"/>
              </a:rPr>
              <a:t>Reports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MC Inventory w/ AMC Reports per model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Walk-in and Service Summary Reports per Branch</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Salary Deduction (Released or Unreleased)</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LR Payment Status Report</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MP Delivery Acceptance Report for Accounting</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MC Delivery Acceptance Report for Accounting</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Unposted SPDA, MCDA, CPDA, SUDA, ASDA</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CP Inventory Summary by Category</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Etc.</a:t>
            </a:r>
          </a:p>
        </p:txBody>
      </p:sp>
    </p:spTree>
    <p:extLst>
      <p:ext uri="{BB962C8B-B14F-4D97-AF65-F5344CB8AC3E}">
        <p14:creationId xmlns:p14="http://schemas.microsoft.com/office/powerpoint/2010/main" val="3906474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9" name="TextBox 8"/>
          <p:cNvSpPr txBox="1"/>
          <p:nvPr/>
        </p:nvSpPr>
        <p:spPr>
          <a:xfrm>
            <a:off x="45021" y="725716"/>
            <a:ext cx="9098979" cy="6370975"/>
          </a:xfrm>
          <a:prstGeom prst="rect">
            <a:avLst/>
          </a:prstGeom>
          <a:noFill/>
        </p:spPr>
        <p:txBody>
          <a:bodyPr wrap="square" rtlCol="0">
            <a:spAutoFit/>
          </a:bodyPr>
          <a:lstStyle/>
          <a:p>
            <a:r>
              <a:rPr lang="en-US" sz="2400" b="1" dirty="0">
                <a:solidFill>
                  <a:schemeClr val="bg1">
                    <a:lumMod val="85000"/>
                  </a:schemeClr>
                </a:solidFill>
                <a:latin typeface="Arial" panose="020B0604020202020204" pitchFamily="34" charset="0"/>
                <a:cs typeface="Arial" panose="020B0604020202020204" pitchFamily="34" charset="0"/>
              </a:rPr>
              <a:t>Pending Projects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POS Mobile Phone</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POS </a:t>
            </a:r>
            <a:r>
              <a:rPr lang="en-US" sz="2400" dirty="0" err="1">
                <a:solidFill>
                  <a:srgbClr val="FFC000"/>
                </a:solidFill>
                <a:latin typeface="Arial" panose="020B0604020202020204" pitchFamily="34" charset="0"/>
                <a:cs typeface="Arial" panose="020B0604020202020204" pitchFamily="34" charset="0"/>
              </a:rPr>
              <a:t>Spareparts</a:t>
            </a: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Approval Code for Top Management</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MP Consignment Payment</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MP Trade In</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MP Purchasing via email</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Product Inquiry on Activities</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Text Reminders for Employees</a:t>
            </a:r>
          </a:p>
          <a:p>
            <a:pPr marL="742950" lvl="1" indent="-285750">
              <a:buFont typeface="Wingdings" pitchFamily="2" charset="2"/>
              <a:buChar char="Ø"/>
            </a:pPr>
            <a:r>
              <a:rPr lang="en-US" sz="2400" dirty="0" err="1">
                <a:solidFill>
                  <a:srgbClr val="FFC000"/>
                </a:solidFill>
                <a:latin typeface="Arial" panose="020B0604020202020204" pitchFamily="34" charset="0"/>
                <a:cs typeface="Arial" panose="020B0604020202020204" pitchFamily="34" charset="0"/>
              </a:rPr>
              <a:t>Textblast</a:t>
            </a:r>
            <a:r>
              <a:rPr lang="en-US" sz="2400" dirty="0">
                <a:solidFill>
                  <a:srgbClr val="FFC000"/>
                </a:solidFill>
                <a:latin typeface="Arial" panose="020B0604020202020204" pitchFamily="34" charset="0"/>
                <a:cs typeface="Arial" panose="020B0604020202020204" pitchFamily="34" charset="0"/>
              </a:rPr>
              <a:t> Report</a:t>
            </a:r>
          </a:p>
          <a:p>
            <a:pPr marL="742950" lvl="1" indent="-285750">
              <a:buFont typeface="Wingdings" pitchFamily="2" charset="2"/>
              <a:buChar char="Ø"/>
            </a:pPr>
            <a:r>
              <a:rPr lang="en-US" sz="2400" dirty="0" err="1">
                <a:solidFill>
                  <a:srgbClr val="FFC000"/>
                </a:solidFill>
                <a:latin typeface="Arial" panose="020B0604020202020204" pitchFamily="34" charset="0"/>
                <a:cs typeface="Arial" panose="020B0604020202020204" pitchFamily="34" charset="0"/>
              </a:rPr>
              <a:t>spWIMS</a:t>
            </a:r>
            <a:r>
              <a:rPr lang="en-US" sz="2400" dirty="0">
                <a:solidFill>
                  <a:srgbClr val="FFC000"/>
                </a:solidFill>
                <a:latin typeface="Arial" panose="020B0604020202020204" pitchFamily="34" charset="0"/>
                <a:cs typeface="Arial" panose="020B0604020202020204" pitchFamily="34" charset="0"/>
              </a:rPr>
              <a:t> – Barcode Reader</a:t>
            </a:r>
          </a:p>
          <a:p>
            <a:pPr marL="742950" lvl="1" indent="-285750">
              <a:buFont typeface="Wingdings" pitchFamily="2" charset="2"/>
              <a:buChar char="Ø"/>
            </a:pPr>
            <a:r>
              <a:rPr lang="en-US" sz="2400" dirty="0" err="1">
                <a:solidFill>
                  <a:srgbClr val="FFC000"/>
                </a:solidFill>
                <a:latin typeface="Arial" panose="020B0604020202020204" pitchFamily="34" charset="0"/>
                <a:cs typeface="Arial" panose="020B0604020202020204" pitchFamily="34" charset="0"/>
              </a:rPr>
              <a:t>IntegSys</a:t>
            </a:r>
            <a:r>
              <a:rPr lang="en-US" sz="2400" dirty="0">
                <a:solidFill>
                  <a:srgbClr val="FFC000"/>
                </a:solidFill>
                <a:latin typeface="Arial" panose="020B0604020202020204" pitchFamily="34" charset="0"/>
                <a:cs typeface="Arial" panose="020B0604020202020204" pitchFamily="34" charset="0"/>
              </a:rPr>
              <a:t> – DTR Posting</a:t>
            </a:r>
          </a:p>
          <a:p>
            <a:pPr marL="742950" lvl="1" indent="-285750">
              <a:buFont typeface="Wingdings" pitchFamily="2" charset="2"/>
              <a:buChar char="Ø"/>
            </a:pPr>
            <a:r>
              <a:rPr lang="en-US" sz="2400" dirty="0">
                <a:solidFill>
                  <a:srgbClr val="FFC000"/>
                </a:solidFill>
                <a:latin typeface="Arial" panose="020B0604020202020204" pitchFamily="34" charset="0"/>
                <a:cs typeface="Arial" panose="020B0604020202020204" pitchFamily="34" charset="0"/>
              </a:rPr>
              <a:t>API Integration</a:t>
            </a: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a:p>
            <a:pPr marL="742950" lvl="1" indent="-285750">
              <a:buFont typeface="Wingdings" pitchFamily="2" charset="2"/>
              <a:buChar char="Ø"/>
            </a:pPr>
            <a:endParaRPr lang="en-US" sz="2400"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74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9" name="TextBox 8"/>
          <p:cNvSpPr txBox="1"/>
          <p:nvPr/>
        </p:nvSpPr>
        <p:spPr>
          <a:xfrm>
            <a:off x="45021" y="1612880"/>
            <a:ext cx="9098979" cy="3416320"/>
          </a:xfrm>
          <a:prstGeom prst="rect">
            <a:avLst/>
          </a:prstGeom>
          <a:noFill/>
        </p:spPr>
        <p:txBody>
          <a:bodyPr wrap="square" rtlCol="0">
            <a:spAutoFit/>
          </a:bodyPr>
          <a:lstStyle/>
          <a:p>
            <a:pPr algn="ctr"/>
            <a:r>
              <a:rPr lang="en-US" sz="5400" b="1" dirty="0">
                <a:latin typeface="Arial" panose="020B0604020202020204" pitchFamily="34" charset="0"/>
                <a:cs typeface="Arial" panose="020B0604020202020204" pitchFamily="34" charset="0"/>
              </a:rPr>
              <a:t>TEAMWORK</a:t>
            </a:r>
          </a:p>
          <a:p>
            <a:pPr algn="ctr"/>
            <a:r>
              <a:rPr lang="en-US" sz="5400" b="1" dirty="0">
                <a:solidFill>
                  <a:schemeClr val="bg1">
                    <a:lumMod val="65000"/>
                  </a:schemeClr>
                </a:solidFill>
                <a:latin typeface="Arial" panose="020B0604020202020204" pitchFamily="34" charset="0"/>
                <a:cs typeface="Arial" panose="020B0604020202020204" pitchFamily="34" charset="0"/>
              </a:rPr>
              <a:t>divides the task</a:t>
            </a:r>
          </a:p>
          <a:p>
            <a:pPr algn="ctr"/>
            <a:r>
              <a:rPr lang="en-US" sz="5400" b="1" dirty="0">
                <a:solidFill>
                  <a:schemeClr val="bg1">
                    <a:lumMod val="65000"/>
                  </a:schemeClr>
                </a:solidFill>
                <a:latin typeface="Arial" panose="020B0604020202020204" pitchFamily="34" charset="0"/>
                <a:cs typeface="Arial" panose="020B0604020202020204" pitchFamily="34" charset="0"/>
              </a:rPr>
              <a:t>and multiplies the</a:t>
            </a:r>
          </a:p>
          <a:p>
            <a:pPr algn="ctr"/>
            <a:r>
              <a:rPr lang="en-US" sz="5400" b="1" dirty="0">
                <a:solidFill>
                  <a:srgbClr val="FF0000"/>
                </a:solidFill>
                <a:latin typeface="Arial" panose="020B0604020202020204" pitchFamily="34" charset="0"/>
                <a:cs typeface="Arial" panose="020B0604020202020204" pitchFamily="34" charset="0"/>
              </a:rPr>
              <a:t>SUCCESS</a:t>
            </a:r>
            <a:endParaRPr lang="en-US" sz="5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5845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0"/>
            <a:ext cx="609600" cy="609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4572000"/>
            <a:ext cx="3397993" cy="2393697"/>
          </a:xfrm>
          <a:prstGeom prst="rect">
            <a:avLst/>
          </a:prstGeom>
        </p:spPr>
      </p:pic>
      <p:sp>
        <p:nvSpPr>
          <p:cNvPr id="9" name="TextBox 8"/>
          <p:cNvSpPr txBox="1"/>
          <p:nvPr/>
        </p:nvSpPr>
        <p:spPr>
          <a:xfrm>
            <a:off x="45021" y="2962870"/>
            <a:ext cx="9098979" cy="707886"/>
          </a:xfrm>
          <a:prstGeom prst="rect">
            <a:avLst/>
          </a:prstGeom>
          <a:noFill/>
        </p:spPr>
        <p:txBody>
          <a:bodyPr wrap="square" rtlCol="0">
            <a:spAutoFit/>
          </a:bodyPr>
          <a:lstStyle/>
          <a:p>
            <a:pPr algn="ctr"/>
            <a:r>
              <a:rPr lang="en-US" sz="4000" b="1" dirty="0">
                <a:solidFill>
                  <a:schemeClr val="bg1"/>
                </a:solidFill>
                <a:latin typeface="Arial" panose="020B0604020202020204" pitchFamily="34" charset="0"/>
                <a:cs typeface="Arial" panose="020B0604020202020204" pitchFamily="34" charset="0"/>
              </a:rPr>
              <a:t>Thank you. Shot </a:t>
            </a:r>
            <a:r>
              <a:rPr lang="en-US" sz="4000" b="1" dirty="0" err="1">
                <a:solidFill>
                  <a:schemeClr val="bg1"/>
                </a:solidFill>
                <a:latin typeface="Arial" panose="020B0604020202020204" pitchFamily="34" charset="0"/>
                <a:cs typeface="Arial" panose="020B0604020202020204" pitchFamily="34" charset="0"/>
              </a:rPr>
              <a:t>na</a:t>
            </a:r>
            <a:r>
              <a:rPr lang="en-US" sz="4000" b="1" dirty="0">
                <a:solidFill>
                  <a:schemeClr val="bg1"/>
                </a:solidFill>
                <a:latin typeface="Arial" panose="020B0604020202020204" pitchFamily="34" charset="0"/>
                <a:cs typeface="Arial" panose="020B0604020202020204" pitchFamily="34" charset="0"/>
              </a:rPr>
              <a:t>!!!</a:t>
            </a:r>
            <a:endParaRPr lang="en-US"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133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3892</TotalTime>
  <Words>361</Words>
  <Application>Microsoft Office PowerPoint</Application>
  <PresentationFormat>On-screen Show (4:3)</PresentationFormat>
  <Paragraphs>92</Paragraphs>
  <Slides>8</Slides>
  <Notes>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Michael Cuison</cp:lastModifiedBy>
  <cp:revision>196</cp:revision>
  <dcterms:created xsi:type="dcterms:W3CDTF">2019-07-19T02:00:03Z</dcterms:created>
  <dcterms:modified xsi:type="dcterms:W3CDTF">2019-12-07T07:24:28Z</dcterms:modified>
</cp:coreProperties>
</file>