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drawings/drawing1.xml" ContentType="application/vnd.openxmlformats-officedocument.drawingml.chartshapes+xml"/>
  <Override PartName="/ppt/notesSlides/notesSlide4.xml" ContentType="application/vnd.openxmlformats-officedocument.presentationml.notesSlide+xml"/>
  <Override PartName="/ppt/charts/chart3.xml" ContentType="application/vnd.openxmlformats-officedocument.drawingml.chart+xml"/>
  <Override PartName="/ppt/drawings/drawing2.xml" ContentType="application/vnd.openxmlformats-officedocument.drawingml.chartshapes+xml"/>
  <Override PartName="/ppt/notesSlides/notesSlide5.xml" ContentType="application/vnd.openxmlformats-officedocument.presentationml.notesSlide+xml"/>
  <Override PartName="/ppt/charts/chart4.xml" ContentType="application/vnd.openxmlformats-officedocument.drawingml.chart+xml"/>
  <Override PartName="/ppt/drawings/drawing3.xml" ContentType="application/vnd.openxmlformats-officedocument.drawingml.chartshapes+xml"/>
  <Override PartName="/ppt/notesSlides/notesSlide6.xml" ContentType="application/vnd.openxmlformats-officedocument.presentationml.notesSlide+xml"/>
  <Override PartName="/ppt/charts/chart5.xml" ContentType="application/vnd.openxmlformats-officedocument.drawingml.chart+xml"/>
  <Override PartName="/ppt/drawings/drawing4.xml" ContentType="application/vnd.openxmlformats-officedocument.drawingml.chartshapes+xml"/>
  <Override PartName="/ppt/notesSlides/notesSlide7.xml" ContentType="application/vnd.openxmlformats-officedocument.presentationml.notesSlide+xml"/>
  <Override PartName="/ppt/charts/chart6.xml" ContentType="application/vnd.openxmlformats-officedocument.drawingml.chart+xml"/>
  <Override PartName="/ppt/drawings/drawing5.xml" ContentType="application/vnd.openxmlformats-officedocument.drawingml.chartshapes+xml"/>
  <Override PartName="/ppt/notesSlides/notesSlide8.xml" ContentType="application/vnd.openxmlformats-officedocument.presentationml.notesSlide+xml"/>
  <Override PartName="/ppt/charts/chart7.xml" ContentType="application/vnd.openxmlformats-officedocument.drawingml.chart+xml"/>
  <Override PartName="/ppt/drawings/drawing6.xml" ContentType="application/vnd.openxmlformats-officedocument.drawingml.chartshapes+xml"/>
  <Override PartName="/ppt/notesSlides/notesSlide9.xml" ContentType="application/vnd.openxmlformats-officedocument.presentationml.notesSlide+xml"/>
  <Override PartName="/ppt/charts/chart8.xml" ContentType="application/vnd.openxmlformats-officedocument.drawingml.chart+xml"/>
  <Override PartName="/ppt/drawings/drawing7.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4" r:id="rId3"/>
    <p:sldId id="300" r:id="rId4"/>
    <p:sldId id="318" r:id="rId5"/>
    <p:sldId id="332" r:id="rId6"/>
    <p:sldId id="333" r:id="rId7"/>
    <p:sldId id="334" r:id="rId8"/>
    <p:sldId id="335" r:id="rId9"/>
    <p:sldId id="336" r:id="rId10"/>
    <p:sldId id="33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D2E"/>
    <a:srgbClr val="FF9800"/>
    <a:srgbClr val="B2B2B2"/>
    <a:srgbClr val="081F2C"/>
    <a:srgbClr val="6C6A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38" autoAdjust="0"/>
    <p:restoredTop sz="93548" autoAdjust="0"/>
  </p:normalViewPr>
  <p:slideViewPr>
    <p:cSldViewPr snapToGrid="0">
      <p:cViewPr varScale="1">
        <p:scale>
          <a:sx n="108" d="100"/>
          <a:sy n="108" d="100"/>
        </p:scale>
        <p:origin x="1782"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58"/>
          <c:y val="0.10381402836825256"/>
          <c:w val="0.54757234233774088"/>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drawing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drawings/_rels/drawing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image" Target="../media/image13.png"/></Relationships>
</file>

<file path=ppt/drawings/_rels/drawing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image" Target="../media/image17.png"/></Relationships>
</file>

<file path=ppt/drawings/drawing1.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0.16428</cdr:x>
      <cdr:y>0.11097</cdr:y>
    </cdr:from>
    <cdr:to>
      <cdr:x>0.45408</cdr:x>
      <cdr:y>0.2838</cdr:y>
    </cdr:to>
    <cdr:sp macro="" textlink="">
      <cdr:nvSpPr>
        <cdr:cNvPr id="6" name="TextBox 5"/>
        <cdr:cNvSpPr txBox="1"/>
      </cdr:nvSpPr>
      <cdr:spPr>
        <a:xfrm xmlns:a="http://schemas.openxmlformats.org/drawingml/2006/main">
          <a:off x="1499203" y="678271"/>
          <a:ext cx="2644750" cy="1056372"/>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0.02684</cdr:x>
      <cdr:y>0.1846</cdr:y>
    </cdr:from>
    <cdr:to>
      <cdr:x>0.35931</cdr:x>
      <cdr:y>0.48651</cdr:y>
    </cdr:to>
    <cdr:pic>
      <cdr:nvPicPr>
        <cdr:cNvPr id="2" name="chart">
          <a:extLst xmlns:a="http://schemas.openxmlformats.org/drawingml/2006/main">
            <a:ext uri="{FF2B5EF4-FFF2-40B4-BE49-F238E27FC236}">
              <a16:creationId xmlns:a16="http://schemas.microsoft.com/office/drawing/2014/main" id="{83FADC03-901A-4DFC-A5E1-6F253EF2B82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44963" y="1128313"/>
          <a:ext cx="3034166" cy="1845363"/>
        </a:xfrm>
        <a:prstGeom xmlns:a="http://schemas.openxmlformats.org/drawingml/2006/main" prst="rect">
          <a:avLst/>
        </a:prstGeom>
      </cdr:spPr>
    </cdr:pic>
  </cdr:relSizeAnchor>
  <cdr:relSizeAnchor xmlns:cdr="http://schemas.openxmlformats.org/drawingml/2006/chartDrawing">
    <cdr:from>
      <cdr:x>0.38478</cdr:x>
      <cdr:y>0.1818</cdr:y>
    </cdr:from>
    <cdr:to>
      <cdr:x>0.72076</cdr:x>
      <cdr:y>0.48369</cdr:y>
    </cdr:to>
    <cdr:pic>
      <cdr:nvPicPr>
        <cdr:cNvPr id="3" name="chart">
          <a:extLst xmlns:a="http://schemas.openxmlformats.org/drawingml/2006/main">
            <a:ext uri="{FF2B5EF4-FFF2-40B4-BE49-F238E27FC236}">
              <a16:creationId xmlns:a16="http://schemas.microsoft.com/office/drawing/2014/main" id="{21B271BE-F4F0-496B-88FC-A06505F3B41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3511531" y="1111209"/>
          <a:ext cx="3066237" cy="1845204"/>
        </a:xfrm>
        <a:prstGeom xmlns:a="http://schemas.openxmlformats.org/drawingml/2006/main" prst="rect">
          <a:avLst/>
        </a:prstGeom>
      </cdr:spPr>
    </cdr:pic>
  </cdr:relSizeAnchor>
  <cdr:relSizeAnchor xmlns:cdr="http://schemas.openxmlformats.org/drawingml/2006/chartDrawing">
    <cdr:from>
      <cdr:x>0.02805</cdr:x>
      <cdr:y>0.53482</cdr:y>
    </cdr:from>
    <cdr:to>
      <cdr:x>0.38979</cdr:x>
      <cdr:y>0.87382</cdr:y>
    </cdr:to>
    <cdr:pic>
      <cdr:nvPicPr>
        <cdr:cNvPr id="4" name="chart">
          <a:extLst xmlns:a="http://schemas.openxmlformats.org/drawingml/2006/main">
            <a:ext uri="{FF2B5EF4-FFF2-40B4-BE49-F238E27FC236}">
              <a16:creationId xmlns:a16="http://schemas.microsoft.com/office/drawing/2014/main" id="{2999D59C-0CB0-4272-B2E6-40C36AAC58A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3"/>
        <a:stretch xmlns:a="http://schemas.openxmlformats.org/drawingml/2006/main">
          <a:fillRect/>
        </a:stretch>
      </cdr:blipFill>
      <cdr:spPr>
        <a:xfrm xmlns:a="http://schemas.openxmlformats.org/drawingml/2006/main">
          <a:off x="255974" y="3268911"/>
          <a:ext cx="3301341" cy="2072036"/>
        </a:xfrm>
        <a:prstGeom xmlns:a="http://schemas.openxmlformats.org/drawingml/2006/main" prst="rect">
          <a:avLst/>
        </a:prstGeom>
      </cdr:spPr>
    </cdr:pic>
  </cdr:relSizeAnchor>
  <cdr:relSizeAnchor xmlns:cdr="http://schemas.openxmlformats.org/drawingml/2006/chartDrawing">
    <cdr:from>
      <cdr:x>0.40595</cdr:x>
      <cdr:y>0.53412</cdr:y>
    </cdr:from>
    <cdr:to>
      <cdr:x>0.71271</cdr:x>
      <cdr:y>0.87741</cdr:y>
    </cdr:to>
    <cdr:pic>
      <cdr:nvPicPr>
        <cdr:cNvPr id="5" name="chart">
          <a:extLst xmlns:a="http://schemas.openxmlformats.org/drawingml/2006/main">
            <a:ext uri="{FF2B5EF4-FFF2-40B4-BE49-F238E27FC236}">
              <a16:creationId xmlns:a16="http://schemas.microsoft.com/office/drawing/2014/main" id="{A7600832-F148-4A75-AEB0-ADA79C593232}"/>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4"/>
        <a:stretch xmlns:a="http://schemas.openxmlformats.org/drawingml/2006/main">
          <a:fillRect/>
        </a:stretch>
      </cdr:blipFill>
      <cdr:spPr>
        <a:xfrm xmlns:a="http://schemas.openxmlformats.org/drawingml/2006/main">
          <a:off x="3704772" y="3264661"/>
          <a:ext cx="2799506" cy="2098266"/>
        </a:xfrm>
        <a:prstGeom xmlns:a="http://schemas.openxmlformats.org/drawingml/2006/main" prst="rect">
          <a:avLst/>
        </a:prstGeom>
      </cdr:spPr>
    </cdr:pic>
  </cdr:relSizeAnchor>
  <cdr:relSizeAnchor xmlns:cdr="http://schemas.openxmlformats.org/drawingml/2006/chartDrawing">
    <cdr:from>
      <cdr:x>0.72904</cdr:x>
      <cdr:y>0.34938</cdr:y>
    </cdr:from>
    <cdr:to>
      <cdr:x>0.99412</cdr:x>
      <cdr:y>0.72433</cdr:y>
    </cdr:to>
    <cdr:pic>
      <cdr:nvPicPr>
        <cdr:cNvPr id="7" name="chart">
          <a:extLst xmlns:a="http://schemas.openxmlformats.org/drawingml/2006/main">
            <a:ext uri="{FF2B5EF4-FFF2-40B4-BE49-F238E27FC236}">
              <a16:creationId xmlns:a16="http://schemas.microsoft.com/office/drawing/2014/main" id="{FEF63D14-3272-41D0-8236-CE7B9C7C15D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5"/>
        <a:stretch xmlns:a="http://schemas.openxmlformats.org/drawingml/2006/main">
          <a:fillRect/>
        </a:stretch>
      </cdr:blipFill>
      <cdr:spPr>
        <a:xfrm xmlns:a="http://schemas.openxmlformats.org/drawingml/2006/main">
          <a:off x="6653341" y="2135499"/>
          <a:ext cx="2419094" cy="2291773"/>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0.02684</cdr:x>
      <cdr:y>0.23589</cdr:y>
    </cdr:from>
    <cdr:to>
      <cdr:x>0.52637</cdr:x>
      <cdr:y>0.32941</cdr:y>
    </cdr:to>
    <cdr:pic>
      <cdr:nvPicPr>
        <cdr:cNvPr id="3" name="chart">
          <a:extLst xmlns:a="http://schemas.openxmlformats.org/drawingml/2006/main">
            <a:ext uri="{FF2B5EF4-FFF2-40B4-BE49-F238E27FC236}">
              <a16:creationId xmlns:a16="http://schemas.microsoft.com/office/drawing/2014/main" id="{374C6E4B-F40B-4972-9746-D5FE4211F5CC}"/>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44963" y="1441824"/>
          <a:ext cx="4558797" cy="571592"/>
        </a:xfrm>
        <a:prstGeom xmlns:a="http://schemas.openxmlformats.org/drawingml/2006/main" prst="rect">
          <a:avLst/>
        </a:prstGeom>
      </cdr:spPr>
    </cdr:pic>
  </cdr:relSizeAnchor>
  <cdr:relSizeAnchor xmlns:cdr="http://schemas.openxmlformats.org/drawingml/2006/chartDrawing">
    <cdr:from>
      <cdr:x>0.57741</cdr:x>
      <cdr:y>0.24019</cdr:y>
    </cdr:from>
    <cdr:to>
      <cdr:x>0.98336</cdr:x>
      <cdr:y>0.84068</cdr:y>
    </cdr:to>
    <cdr:pic>
      <cdr:nvPicPr>
        <cdr:cNvPr id="5" name="Picture 4">
          <a:extLst xmlns:a="http://schemas.openxmlformats.org/drawingml/2006/main">
            <a:ext uri="{FF2B5EF4-FFF2-40B4-BE49-F238E27FC236}">
              <a16:creationId xmlns:a16="http://schemas.microsoft.com/office/drawing/2014/main" id="{F10317D4-1B4E-4DC6-8AFD-3007395AE7B2}"/>
            </a:ext>
          </a:extLst>
        </cdr:cNvPr>
        <cdr:cNvPicPr>
          <a:picLocks xmlns:a="http://schemas.openxmlformats.org/drawingml/2006/main" noChangeAspect="1" noChangeArrowheads="1"/>
        </cdr:cNvPicPr>
      </cdr:nvPicPr>
      <cdr:blipFill>
        <a:blip xmlns:a="http://schemas.openxmlformats.org/drawingml/2006/main" xmlns:r="http://schemas.openxmlformats.org/officeDocument/2006/relationships" r:embed="rId2"/>
        <a:srcRect xmlns:a="http://schemas.openxmlformats.org/drawingml/2006/main"/>
        <a:stretch xmlns:a="http://schemas.openxmlformats.org/drawingml/2006/main">
          <a:fillRect/>
        </a:stretch>
      </cdr:blipFill>
      <cdr:spPr bwMode="auto">
        <a:xfrm xmlns:a="http://schemas.openxmlformats.org/drawingml/2006/main">
          <a:off x="5269478" y="1468120"/>
          <a:ext cx="3704769" cy="367030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70000"/>
            </a:srgbClr>
          </a:outerShdw>
        </a:effectLst>
      </cdr:spPr>
    </cdr:pic>
  </cdr:relSizeAnchor>
</c:userShapes>
</file>

<file path=ppt/drawings/drawing4.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0.67394</cdr:x>
      <cdr:y>0.3126</cdr:y>
    </cdr:from>
    <cdr:to>
      <cdr:x>0.9285</cdr:x>
      <cdr:y>0.36799</cdr:y>
    </cdr:to>
    <cdr:sp macro="" textlink="">
      <cdr:nvSpPr>
        <cdr:cNvPr id="7" name="Rectangle 6">
          <a:extLst xmlns:a="http://schemas.openxmlformats.org/drawingml/2006/main">
            <a:ext uri="{FF2B5EF4-FFF2-40B4-BE49-F238E27FC236}">
              <a16:creationId xmlns:a16="http://schemas.microsoft.com/office/drawing/2014/main" id="{32CB9F0F-B7CB-49B4-A859-3B0A9EDC30C0}"/>
            </a:ext>
          </a:extLst>
        </cdr:cNvPr>
        <cdr:cNvSpPr/>
      </cdr:nvSpPr>
      <cdr:spPr>
        <a:xfrm xmlns:a="http://schemas.openxmlformats.org/drawingml/2006/main">
          <a:off x="6150454" y="1910665"/>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Promo Link SMS</a:t>
          </a:r>
        </a:p>
      </cdr:txBody>
    </cdr:sp>
  </cdr:relSizeAnchor>
</c:userShapes>
</file>

<file path=ppt/drawings/drawing5.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0.15746</cdr:x>
      <cdr:y>0.88139</cdr:y>
    </cdr:from>
    <cdr:to>
      <cdr:x>0.41203</cdr:x>
      <cdr:y>0.93678</cdr:y>
    </cdr:to>
    <cdr:sp macro="" textlink="">
      <cdr:nvSpPr>
        <cdr:cNvPr id="7" name="Rectangle 6">
          <a:extLst xmlns:a="http://schemas.openxmlformats.org/drawingml/2006/main">
            <a:ext uri="{FF2B5EF4-FFF2-40B4-BE49-F238E27FC236}">
              <a16:creationId xmlns:a16="http://schemas.microsoft.com/office/drawing/2014/main" id="{32CB9F0F-B7CB-49B4-A859-3B0A9EDC30C0}"/>
            </a:ext>
          </a:extLst>
        </cdr:cNvPr>
        <cdr:cNvSpPr/>
      </cdr:nvSpPr>
      <cdr:spPr>
        <a:xfrm xmlns:a="http://schemas.openxmlformats.org/drawingml/2006/main">
          <a:off x="1437024" y="5387222"/>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Login Prompt</a:t>
          </a:r>
        </a:p>
      </cdr:txBody>
    </cdr:sp>
  </cdr:relSizeAnchor>
  <cdr:relSizeAnchor xmlns:cdr="http://schemas.openxmlformats.org/drawingml/2006/chartDrawing">
    <cdr:from>
      <cdr:x>0.1907</cdr:x>
      <cdr:y>0.29436</cdr:y>
    </cdr:from>
    <cdr:to>
      <cdr:x>0.40798</cdr:x>
      <cdr:y>0.8688</cdr:y>
    </cdr:to>
    <cdr:pic>
      <cdr:nvPicPr>
        <cdr:cNvPr id="3" name="chart">
          <a:extLst xmlns:a="http://schemas.openxmlformats.org/drawingml/2006/main">
            <a:ext uri="{FF2B5EF4-FFF2-40B4-BE49-F238E27FC236}">
              <a16:creationId xmlns:a16="http://schemas.microsoft.com/office/drawing/2014/main" id="{BF53B516-4B69-4228-B6F2-03FA4813E48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1740311" y="1799174"/>
          <a:ext cx="1982942" cy="3511119"/>
        </a:xfrm>
        <a:prstGeom xmlns:a="http://schemas.openxmlformats.org/drawingml/2006/main" prst="rect">
          <a:avLst/>
        </a:prstGeom>
      </cdr:spPr>
    </cdr:pic>
  </cdr:relSizeAnchor>
  <cdr:relSizeAnchor xmlns:cdr="http://schemas.openxmlformats.org/drawingml/2006/chartDrawing">
    <cdr:from>
      <cdr:x>0.59636</cdr:x>
      <cdr:y>0.3067</cdr:y>
    </cdr:from>
    <cdr:to>
      <cdr:x>0.81424</cdr:x>
      <cdr:y>0.88451</cdr:y>
    </cdr:to>
    <cdr:pic>
      <cdr:nvPicPr>
        <cdr:cNvPr id="8" name="Picture 7">
          <a:extLst xmlns:a="http://schemas.openxmlformats.org/drawingml/2006/main">
            <a:ext uri="{FF2B5EF4-FFF2-40B4-BE49-F238E27FC236}">
              <a16:creationId xmlns:a16="http://schemas.microsoft.com/office/drawing/2014/main" id="{3E360D3B-5D41-44AC-819D-DA03338D70DF}"/>
            </a:ext>
          </a:extLst>
        </cdr:cNvPr>
        <cdr:cNvPicPr>
          <a:picLocks xmlns:a="http://schemas.openxmlformats.org/drawingml/2006/main" noChangeAspect="1" noChangeArrowheads="1"/>
        </cdr:cNvPicPr>
      </cdr:nvPicPr>
      <cdr:blipFill>
        <a:blip xmlns:a="http://schemas.openxmlformats.org/drawingml/2006/main" xmlns:r="http://schemas.openxmlformats.org/officeDocument/2006/relationships" r:embed="rId2"/>
        <a:srcRect xmlns:a="http://schemas.openxmlformats.org/drawingml/2006/main"/>
        <a:stretch xmlns:a="http://schemas.openxmlformats.org/drawingml/2006/main">
          <a:fillRect/>
        </a:stretch>
      </cdr:blipFill>
      <cdr:spPr bwMode="auto">
        <a:xfrm xmlns:a="http://schemas.openxmlformats.org/drawingml/2006/main">
          <a:off x="5442458" y="1874624"/>
          <a:ext cx="1988357" cy="3531701"/>
        </a:xfrm>
        <a:prstGeom xmlns:a="http://schemas.openxmlformats.org/drawingml/2006/main" prst="rect">
          <a:avLst/>
        </a:prstGeom>
        <a:noFill xmlns:a="http://schemas.openxmlformats.org/drawingml/2006/main"/>
      </cdr:spPr>
    </cdr:pic>
  </cdr:relSizeAnchor>
  <cdr:relSizeAnchor xmlns:cdr="http://schemas.openxmlformats.org/drawingml/2006/chartDrawing">
    <cdr:from>
      <cdr:x>0.55848</cdr:x>
      <cdr:y>0.88196</cdr:y>
    </cdr:from>
    <cdr:to>
      <cdr:x>0.81304</cdr:x>
      <cdr:y>0.93735</cdr:y>
    </cdr:to>
    <cdr:sp macro="" textlink="">
      <cdr:nvSpPr>
        <cdr:cNvPr id="9" name="Rectangle 8">
          <a:extLst xmlns:a="http://schemas.openxmlformats.org/drawingml/2006/main">
            <a:ext uri="{FF2B5EF4-FFF2-40B4-BE49-F238E27FC236}">
              <a16:creationId xmlns:a16="http://schemas.microsoft.com/office/drawing/2014/main" id="{A310CBF3-971A-4691-9A9F-701333F3DCB1}"/>
            </a:ext>
          </a:extLst>
        </cdr:cNvPr>
        <cdr:cNvSpPr/>
      </cdr:nvSpPr>
      <cdr:spPr>
        <a:xfrm xmlns:a="http://schemas.openxmlformats.org/drawingml/2006/main">
          <a:off x="5096747" y="5390696"/>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Main Page</a:t>
          </a:r>
        </a:p>
      </cdr:txBody>
    </cdr:sp>
  </cdr:relSizeAnchor>
</c:userShapes>
</file>

<file path=ppt/drawings/drawing6.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0.17205</cdr:x>
      <cdr:y>0.88196</cdr:y>
    </cdr:from>
    <cdr:to>
      <cdr:x>0.42662</cdr:x>
      <cdr:y>0.93735</cdr:y>
    </cdr:to>
    <cdr:sp macro="" textlink="">
      <cdr:nvSpPr>
        <cdr:cNvPr id="7" name="Rectangle 6">
          <a:extLst xmlns:a="http://schemas.openxmlformats.org/drawingml/2006/main">
            <a:ext uri="{FF2B5EF4-FFF2-40B4-BE49-F238E27FC236}">
              <a16:creationId xmlns:a16="http://schemas.microsoft.com/office/drawing/2014/main" id="{32CB9F0F-B7CB-49B4-A859-3B0A9EDC30C0}"/>
            </a:ext>
          </a:extLst>
        </cdr:cNvPr>
        <cdr:cNvSpPr/>
      </cdr:nvSpPr>
      <cdr:spPr>
        <a:xfrm xmlns:a="http://schemas.openxmlformats.org/drawingml/2006/main">
          <a:off x="1570189" y="5390696"/>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Company Cover Photo</a:t>
          </a:r>
        </a:p>
      </cdr:txBody>
    </cdr:sp>
  </cdr:relSizeAnchor>
  <cdr:relSizeAnchor xmlns:cdr="http://schemas.openxmlformats.org/drawingml/2006/chartDrawing">
    <cdr:from>
      <cdr:x>0.57988</cdr:x>
      <cdr:y>0.876</cdr:y>
    </cdr:from>
    <cdr:to>
      <cdr:x>0.83444</cdr:x>
      <cdr:y>0.93139</cdr:y>
    </cdr:to>
    <cdr:sp macro="" textlink="">
      <cdr:nvSpPr>
        <cdr:cNvPr id="9" name="Rectangle 8">
          <a:extLst xmlns:a="http://schemas.openxmlformats.org/drawingml/2006/main">
            <a:ext uri="{FF2B5EF4-FFF2-40B4-BE49-F238E27FC236}">
              <a16:creationId xmlns:a16="http://schemas.microsoft.com/office/drawing/2014/main" id="{A310CBF3-971A-4691-9A9F-701333F3DCB1}"/>
            </a:ext>
          </a:extLst>
        </cdr:cNvPr>
        <cdr:cNvSpPr/>
      </cdr:nvSpPr>
      <cdr:spPr>
        <a:xfrm xmlns:a="http://schemas.openxmlformats.org/drawingml/2006/main">
          <a:off x="5292056" y="5354282"/>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SMS Confirmation</a:t>
          </a:r>
        </a:p>
      </cdr:txBody>
    </cdr:sp>
  </cdr:relSizeAnchor>
</c:userShapes>
</file>

<file path=ppt/drawings/drawing7.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0.04362</cdr:x>
      <cdr:y>0.86293</cdr:y>
    </cdr:from>
    <cdr:to>
      <cdr:x>0.29818</cdr:x>
      <cdr:y>0.91832</cdr:y>
    </cdr:to>
    <cdr:sp macro="" textlink="">
      <cdr:nvSpPr>
        <cdr:cNvPr id="7" name="Rectangle 6">
          <a:extLst xmlns:a="http://schemas.openxmlformats.org/drawingml/2006/main">
            <a:ext uri="{FF2B5EF4-FFF2-40B4-BE49-F238E27FC236}">
              <a16:creationId xmlns:a16="http://schemas.microsoft.com/office/drawing/2014/main" id="{32CB9F0F-B7CB-49B4-A859-3B0A9EDC30C0}"/>
            </a:ext>
          </a:extLst>
        </cdr:cNvPr>
        <cdr:cNvSpPr/>
      </cdr:nvSpPr>
      <cdr:spPr>
        <a:xfrm xmlns:a="http://schemas.openxmlformats.org/drawingml/2006/main">
          <a:off x="398043" y="5274391"/>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LIKE AFFILIATE PAGE</a:t>
          </a:r>
        </a:p>
      </cdr:txBody>
    </cdr:sp>
  </cdr:relSizeAnchor>
  <cdr:relSizeAnchor xmlns:cdr="http://schemas.openxmlformats.org/drawingml/2006/chartDrawing">
    <cdr:from>
      <cdr:x>0.37272</cdr:x>
      <cdr:y>0.86576</cdr:y>
    </cdr:from>
    <cdr:to>
      <cdr:x>0.62728</cdr:x>
      <cdr:y>0.92115</cdr:y>
    </cdr:to>
    <cdr:sp macro="" textlink="">
      <cdr:nvSpPr>
        <cdr:cNvPr id="9" name="Rectangle 8">
          <a:extLst xmlns:a="http://schemas.openxmlformats.org/drawingml/2006/main">
            <a:ext uri="{FF2B5EF4-FFF2-40B4-BE49-F238E27FC236}">
              <a16:creationId xmlns:a16="http://schemas.microsoft.com/office/drawing/2014/main" id="{A310CBF3-971A-4691-9A9F-701333F3DCB1}"/>
            </a:ext>
          </a:extLst>
        </cdr:cNvPr>
        <cdr:cNvSpPr/>
      </cdr:nvSpPr>
      <cdr:spPr>
        <a:xfrm xmlns:a="http://schemas.openxmlformats.org/drawingml/2006/main">
          <a:off x="3401468" y="5291682"/>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AFFILATE PAGES</a:t>
          </a:r>
        </a:p>
      </cdr:txBody>
    </cdr:sp>
  </cdr:relSizeAnchor>
  <cdr:relSizeAnchor xmlns:cdr="http://schemas.openxmlformats.org/drawingml/2006/chartDrawing">
    <cdr:from>
      <cdr:x>0.70898</cdr:x>
      <cdr:y>0.86545</cdr:y>
    </cdr:from>
    <cdr:to>
      <cdr:x>0.96355</cdr:x>
      <cdr:y>0.92084</cdr:y>
    </cdr:to>
    <cdr:sp macro="" textlink="">
      <cdr:nvSpPr>
        <cdr:cNvPr id="8" name="Rectangle 7">
          <a:extLst xmlns:a="http://schemas.openxmlformats.org/drawingml/2006/main">
            <a:ext uri="{FF2B5EF4-FFF2-40B4-BE49-F238E27FC236}">
              <a16:creationId xmlns:a16="http://schemas.microsoft.com/office/drawing/2014/main" id="{2342CCE7-E676-464C-901A-227F3D5AA058}"/>
            </a:ext>
          </a:extLst>
        </cdr:cNvPr>
        <cdr:cNvSpPr/>
      </cdr:nvSpPr>
      <cdr:spPr>
        <a:xfrm xmlns:a="http://schemas.openxmlformats.org/drawingml/2006/main">
          <a:off x="6470249" y="5289779"/>
          <a:ext cx="2323186" cy="338554"/>
        </a:xfrm>
        <a:prstGeom xmlns:a="http://schemas.openxmlformats.org/drawingml/2006/main" prst="rect">
          <a:avLst/>
        </a:prstGeom>
        <a:noFill xmlns:a="http://schemas.openxmlformats.org/drawingml/2006/main"/>
      </cdr:spPr>
      <cdr:txBody>
        <a:bodyPr xmlns:a="http://schemas.openxmlformats.org/drawingml/2006/main" wrap="square" lIns="91440" tIns="45720" rIns="91440" bIns="4572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1600" dirty="0">
              <a:ln w="0"/>
              <a:solidFill>
                <a:schemeClr val="accent1"/>
              </a:solidFill>
              <a:effectLst>
                <a:outerShdw blurRad="38100" dist="25400" dir="5400000" algn="ctr" rotWithShape="0">
                  <a:srgbClr val="6E747A">
                    <a:alpha val="43000"/>
                  </a:srgbClr>
                </a:outerShdw>
              </a:effectLst>
              <a:latin typeface="Adobe Fan Heiti Std B" panose="020B0700000000000000" pitchFamily="34" charset="-128"/>
              <a:ea typeface="Adobe Fan Heiti Std B" panose="020B0700000000000000" pitchFamily="34" charset="-128"/>
            </a:rPr>
            <a:t>SMS Confirmation</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BDE55-35D3-4A40-AD33-0B9324017773}" type="datetimeFigureOut">
              <a:rPr lang="en-PH" smtClean="0"/>
              <a:pPr/>
              <a:t>30/11/2020</a:t>
            </a:fld>
            <a:endParaRPr lang="en-P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BDC400-2BB4-4D75-9C23-2A869DBE2B21}" type="slidenum">
              <a:rPr lang="en-PH" smtClean="0"/>
              <a:pPr/>
              <a:t>‹#›</a:t>
            </a:fld>
            <a:endParaRPr lang="en-PH"/>
          </a:p>
        </p:txBody>
      </p:sp>
    </p:spTree>
    <p:extLst>
      <p:ext uri="{BB962C8B-B14F-4D97-AF65-F5344CB8AC3E}">
        <p14:creationId xmlns:p14="http://schemas.microsoft.com/office/powerpoint/2010/main" val="2348221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2</a:t>
            </a:fld>
            <a:endParaRPr lang="en-PH"/>
          </a:p>
        </p:txBody>
      </p:sp>
    </p:spTree>
    <p:extLst>
      <p:ext uri="{BB962C8B-B14F-4D97-AF65-F5344CB8AC3E}">
        <p14:creationId xmlns:p14="http://schemas.microsoft.com/office/powerpoint/2010/main" val="26508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3</a:t>
            </a:fld>
            <a:endParaRPr lang="en-P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4</a:t>
            </a:fld>
            <a:endParaRPr lang="en-P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5</a:t>
            </a:fld>
            <a:endParaRPr lang="en-PH"/>
          </a:p>
        </p:txBody>
      </p:sp>
    </p:spTree>
    <p:extLst>
      <p:ext uri="{BB962C8B-B14F-4D97-AF65-F5344CB8AC3E}">
        <p14:creationId xmlns:p14="http://schemas.microsoft.com/office/powerpoint/2010/main" val="628356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6</a:t>
            </a:fld>
            <a:endParaRPr lang="en-PH"/>
          </a:p>
        </p:txBody>
      </p:sp>
    </p:spTree>
    <p:extLst>
      <p:ext uri="{BB962C8B-B14F-4D97-AF65-F5344CB8AC3E}">
        <p14:creationId xmlns:p14="http://schemas.microsoft.com/office/powerpoint/2010/main" val="3190383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7</a:t>
            </a:fld>
            <a:endParaRPr lang="en-PH"/>
          </a:p>
        </p:txBody>
      </p:sp>
    </p:spTree>
    <p:extLst>
      <p:ext uri="{BB962C8B-B14F-4D97-AF65-F5344CB8AC3E}">
        <p14:creationId xmlns:p14="http://schemas.microsoft.com/office/powerpoint/2010/main" val="1526795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8</a:t>
            </a:fld>
            <a:endParaRPr lang="en-PH"/>
          </a:p>
        </p:txBody>
      </p:sp>
    </p:spTree>
    <p:extLst>
      <p:ext uri="{BB962C8B-B14F-4D97-AF65-F5344CB8AC3E}">
        <p14:creationId xmlns:p14="http://schemas.microsoft.com/office/powerpoint/2010/main" val="1162941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9</a:t>
            </a:fld>
            <a:endParaRPr lang="en-PH"/>
          </a:p>
        </p:txBody>
      </p:sp>
    </p:spTree>
    <p:extLst>
      <p:ext uri="{BB962C8B-B14F-4D97-AF65-F5344CB8AC3E}">
        <p14:creationId xmlns:p14="http://schemas.microsoft.com/office/powerpoint/2010/main" val="2719168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10</a:t>
            </a:fld>
            <a:endParaRPr lang="en-PH"/>
          </a:p>
        </p:txBody>
      </p:sp>
    </p:spTree>
    <p:extLst>
      <p:ext uri="{BB962C8B-B14F-4D97-AF65-F5344CB8AC3E}">
        <p14:creationId xmlns:p14="http://schemas.microsoft.com/office/powerpoint/2010/main" val="3037944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2942839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9810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907689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4016254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3463627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2955531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854776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57366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224872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3733182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30/11/2020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795515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254A3-CA93-4ED2-8531-7F94B29CAD94}" type="datetimeFigureOut">
              <a:rPr lang="en-PH" smtClean="0"/>
              <a:pPr/>
              <a:t>30/11/2020</a:t>
            </a:fld>
            <a:endParaRPr lang="en-PH"/>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CE2B4-5905-476D-A26A-30AF6E7624E9}" type="slidenum">
              <a:rPr lang="en-PH" smtClean="0"/>
              <a:pPr/>
              <a:t>‹#›</a:t>
            </a:fld>
            <a:endParaRPr lang="en-PH"/>
          </a:p>
        </p:txBody>
      </p:sp>
    </p:spTree>
    <p:extLst>
      <p:ext uri="{BB962C8B-B14F-4D97-AF65-F5344CB8AC3E}">
        <p14:creationId xmlns:p14="http://schemas.microsoft.com/office/powerpoint/2010/main" val="3045105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chart" Target="../charts/chart5.xml"/><Relationship Id="rId7"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chart" Target="../charts/chart7.xml"/><Relationship Id="rId7"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0.jpeg"/></Relationships>
</file>

<file path=ppt/slides/_rels/slide10.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chart" Target="../charts/chart8.xml"/><Relationship Id="rId7"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3.jpg"/><Relationship Id="rId4" Type="http://schemas.openxmlformats.org/officeDocument/2006/relationships/image" Target="../media/image4.png"/><Relationship Id="rId9"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12192000" cy="685800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533" y="390459"/>
            <a:ext cx="8523430" cy="132693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8552" y="0"/>
            <a:ext cx="5759449" cy="6858000"/>
          </a:xfrm>
          <a:prstGeom prst="rect">
            <a:avLst/>
          </a:prstGeom>
        </p:spPr>
      </p:pic>
    </p:spTree>
    <p:extLst>
      <p:ext uri="{BB962C8B-B14F-4D97-AF65-F5344CB8AC3E}">
        <p14:creationId xmlns:p14="http://schemas.microsoft.com/office/powerpoint/2010/main" val="2999953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1000" fill="hold"/>
                                        <p:tgtEl>
                                          <p:spTgt spid="9"/>
                                        </p:tgtEl>
                                        <p:attrNameLst>
                                          <p:attrName>ppt_x</p:attrName>
                                        </p:attrNameLst>
                                      </p:cBhvr>
                                      <p:tavLst>
                                        <p:tav tm="0">
                                          <p:val>
                                            <p:strVal val="1+#ppt_w/2"/>
                                          </p:val>
                                        </p:tav>
                                        <p:tav tm="100000">
                                          <p:val>
                                            <p:strVal val="#ppt_x"/>
                                          </p:val>
                                        </p:tav>
                                      </p:tavLst>
                                    </p:anim>
                                    <p:anim calcmode="lin" valueType="num">
                                      <p:cBhvr additive="base">
                                        <p:cTn id="17" dur="1000" fill="hold"/>
                                        <p:tgtEl>
                                          <p:spTgt spid="9"/>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0" presetClass="exit" presetSubtype="0" fill="hold" nodeType="after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par>
                          <p:cTn id="22" fill="hold">
                            <p:stCondLst>
                              <p:cond delay="2000"/>
                            </p:stCondLst>
                            <p:childTnLst>
                              <p:par>
                                <p:cTn id="23" presetID="2" presetClass="exit" presetSubtype="4" fill="hold" nodeType="afterEffect">
                                  <p:stCondLst>
                                    <p:cond delay="0"/>
                                  </p:stCondLst>
                                  <p:childTnLst>
                                    <p:anim calcmode="lin" valueType="num">
                                      <p:cBhvr additive="base">
                                        <p:cTn id="24" dur="500"/>
                                        <p:tgtEl>
                                          <p:spTgt spid="6"/>
                                        </p:tgtEl>
                                        <p:attrNameLst>
                                          <p:attrName>ppt_x</p:attrName>
                                        </p:attrNameLst>
                                      </p:cBhvr>
                                      <p:tavLst>
                                        <p:tav tm="0">
                                          <p:val>
                                            <p:strVal val="ppt_x"/>
                                          </p:val>
                                        </p:tav>
                                        <p:tav tm="100000">
                                          <p:val>
                                            <p:strVal val="ppt_x"/>
                                          </p:val>
                                        </p:tav>
                                      </p:tavLst>
                                    </p:anim>
                                    <p:anim calcmode="lin" valueType="num">
                                      <p:cBhvr additive="base">
                                        <p:cTn id="25" dur="500"/>
                                        <p:tgtEl>
                                          <p:spTgt spid="6"/>
                                        </p:tgtEl>
                                        <p:attrNameLst>
                                          <p:attrName>ppt_y</p:attrName>
                                        </p:attrNameLst>
                                      </p:cBhvr>
                                      <p:tavLst>
                                        <p:tav tm="0">
                                          <p:val>
                                            <p:strVal val="ppt_y"/>
                                          </p:val>
                                        </p:tav>
                                        <p:tav tm="100000">
                                          <p:val>
                                            <p:strVal val="1+ppt_h/2"/>
                                          </p:val>
                                        </p:tav>
                                      </p:tavLst>
                                    </p:anim>
                                    <p:set>
                                      <p:cBhvr>
                                        <p:cTn id="26" dur="1" fill="hold">
                                          <p:stCondLst>
                                            <p:cond delay="499"/>
                                          </p:stCondLst>
                                        </p:cTn>
                                        <p:tgtEl>
                                          <p:spTgt spid="6"/>
                                        </p:tgtEl>
                                        <p:attrNameLst>
                                          <p:attrName>style.visibility</p:attrName>
                                        </p:attrNameLst>
                                      </p:cBhvr>
                                      <p:to>
                                        <p:strVal val="hidden"/>
                                      </p:to>
                                    </p:set>
                                  </p:childTnLst>
                                </p:cTn>
                              </p:par>
                              <p:par>
                                <p:cTn id="27" presetID="2" presetClass="exit" presetSubtype="8" fill="hold" nodeType="withEffect">
                                  <p:stCondLst>
                                    <p:cond delay="0"/>
                                  </p:stCondLst>
                                  <p:childTnLst>
                                    <p:anim calcmode="lin" valueType="num">
                                      <p:cBhvr additive="base">
                                        <p:cTn id="28" dur="500"/>
                                        <p:tgtEl>
                                          <p:spTgt spid="8"/>
                                        </p:tgtEl>
                                        <p:attrNameLst>
                                          <p:attrName>ppt_x</p:attrName>
                                        </p:attrNameLst>
                                      </p:cBhvr>
                                      <p:tavLst>
                                        <p:tav tm="0">
                                          <p:val>
                                            <p:strVal val="ppt_x"/>
                                          </p:val>
                                        </p:tav>
                                        <p:tav tm="100000">
                                          <p:val>
                                            <p:strVal val="0-ppt_w/2"/>
                                          </p:val>
                                        </p:tav>
                                      </p:tavLst>
                                    </p:anim>
                                    <p:anim calcmode="lin" valueType="num">
                                      <p:cBhvr additive="base">
                                        <p:cTn id="29" dur="500"/>
                                        <p:tgtEl>
                                          <p:spTgt spid="8"/>
                                        </p:tgtEl>
                                        <p:attrNameLst>
                                          <p:attrName>ppt_y</p:attrName>
                                        </p:attrNameLst>
                                      </p:cBhvr>
                                      <p:tavLst>
                                        <p:tav tm="0">
                                          <p:val>
                                            <p:strVal val="ppt_y"/>
                                          </p:val>
                                        </p:tav>
                                        <p:tav tm="100000">
                                          <p:val>
                                            <p:strVal val="ppt_y"/>
                                          </p:val>
                                        </p:tav>
                                      </p:tavLst>
                                    </p:anim>
                                    <p:set>
                                      <p:cBhvr>
                                        <p:cTn id="3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C6A66"/>
        </a:solidFill>
        <a:effectLst/>
      </p:bgPr>
    </p:bg>
    <p:spTree>
      <p:nvGrpSpPr>
        <p:cNvPr id="1" name=""/>
        <p:cNvGrpSpPr/>
        <p:nvPr/>
      </p:nvGrpSpPr>
      <p:grpSpPr>
        <a:xfrm>
          <a:off x="0" y="0"/>
          <a:ext cx="0" cy="0"/>
          <a:chOff x="0" y="0"/>
          <a:chExt cx="0" cy="0"/>
        </a:xfrm>
      </p:grpSpPr>
      <p:sp>
        <p:nvSpPr>
          <p:cNvPr id="3" name="TextBox 2"/>
          <p:cNvSpPr txBox="1"/>
          <p:nvPr/>
        </p:nvSpPr>
        <p:spPr>
          <a:xfrm>
            <a:off x="800100" y="3095625"/>
            <a:ext cx="7534275" cy="830997"/>
          </a:xfrm>
          <a:prstGeom prst="rect">
            <a:avLst/>
          </a:prstGeom>
          <a:noFill/>
        </p:spPr>
        <p:txBody>
          <a:bodyPr wrap="square" rtlCol="0">
            <a:spAutoFit/>
          </a:bodyPr>
          <a:lstStyle/>
          <a:p>
            <a:pPr algn="ctr"/>
            <a:r>
              <a:rPr lang="en-US" sz="4800" dirty="0">
                <a:solidFill>
                  <a:srgbClr val="F68D2E"/>
                </a:solidFill>
                <a:latin typeface="Adobe Gothic Std B" panose="020B0800000000000000" pitchFamily="34" charset="-128"/>
                <a:ea typeface="Adobe Gothic Std B" panose="020B0800000000000000" pitchFamily="34" charset="-128"/>
              </a:rPr>
              <a:t>MIS</a:t>
            </a:r>
          </a:p>
        </p:txBody>
      </p:sp>
      <p:sp>
        <p:nvSpPr>
          <p:cNvPr id="4" name="Rectangle 3"/>
          <p:cNvSpPr/>
          <p:nvPr/>
        </p:nvSpPr>
        <p:spPr>
          <a:xfrm>
            <a:off x="775855" y="2655241"/>
            <a:ext cx="7592290" cy="1689368"/>
          </a:xfrm>
          <a:prstGeom prst="rect">
            <a:avLst/>
          </a:prstGeom>
          <a:noFill/>
          <a:ln w="12700">
            <a:solidFill>
              <a:srgbClr val="FF98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H"/>
          </a:p>
        </p:txBody>
      </p:sp>
    </p:spTree>
    <p:extLst>
      <p:ext uri="{BB962C8B-B14F-4D97-AF65-F5344CB8AC3E}">
        <p14:creationId xmlns:p14="http://schemas.microsoft.com/office/powerpoint/2010/main" val="862273399"/>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p:cNvGraphicFramePr/>
          <p:nvPr>
            <p:extLst>
              <p:ext uri="{D42A27DB-BD31-4B8C-83A1-F6EECF244321}">
                <p14:modId xmlns:p14="http://schemas.microsoft.com/office/powerpoint/2010/main" val="1562351984"/>
              </p:ext>
            </p:extLst>
          </p:nvPr>
        </p:nvGraphicFramePr>
        <p:xfrm>
          <a:off x="0" y="462138"/>
          <a:ext cx="9126122" cy="6012910"/>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69266"/>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244963" y="26176"/>
            <a:ext cx="2930037" cy="553998"/>
          </a:xfrm>
          <a:prstGeom prst="rect">
            <a:avLst/>
          </a:prstGeom>
          <a:noFill/>
        </p:spPr>
        <p:txBody>
          <a:bodyPr wrap="square" rtlCol="0">
            <a:spAutoFit/>
          </a:bodyPr>
          <a:lstStyle/>
          <a:p>
            <a:pPr algn="just"/>
            <a:r>
              <a:rPr lang="en-US" sz="3000" dirty="0">
                <a:solidFill>
                  <a:schemeClr val="bg1"/>
                </a:solidFill>
                <a:latin typeface="Adobe Fan Heiti Std B" panose="020B0700000000000000" pitchFamily="34" charset="-128"/>
                <a:ea typeface="Adobe Fan Heiti Std B" panose="020B0700000000000000" pitchFamily="34" charset="-128"/>
              </a:rPr>
              <a:t>MIS</a:t>
            </a:r>
          </a:p>
        </p:txBody>
      </p:sp>
      <p:sp>
        <p:nvSpPr>
          <p:cNvPr id="20" name="Rectangle 19"/>
          <p:cNvSpPr/>
          <p:nvPr/>
        </p:nvSpPr>
        <p:spPr>
          <a:xfrm>
            <a:off x="1835213" y="3049178"/>
            <a:ext cx="6636047" cy="76944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4400" b="1" dirty="0">
                <a:ln w="9525">
                  <a:solidFill>
                    <a:schemeClr val="tx1"/>
                  </a:solidFill>
                  <a:prstDash val="solid"/>
                </a:ln>
                <a:effectLst>
                  <a:outerShdw blurRad="12700" dist="38100" dir="2700000" algn="tl" rotWithShape="0">
                    <a:schemeClr val="bg1">
                      <a:lumMod val="50000"/>
                    </a:schemeClr>
                  </a:outerShdw>
                </a:effectLst>
              </a:rPr>
              <a:t>Facebook Like Raffle Promo</a:t>
            </a:r>
          </a:p>
        </p:txBody>
      </p:sp>
      <p:pic>
        <p:nvPicPr>
          <p:cNvPr id="21" name="Picture 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0161" y="2920637"/>
            <a:ext cx="1042416" cy="1042416"/>
          </a:xfrm>
          <a:prstGeom prst="rect">
            <a:avLst/>
          </a:prstGeom>
        </p:spPr>
      </p:pic>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21106" y="0"/>
            <a:ext cx="3704770" cy="571592"/>
          </a:xfrm>
          <a:prstGeom prst="rect">
            <a:avLst/>
          </a:prstGeom>
        </p:spPr>
      </p:pic>
      <p:sp>
        <p:nvSpPr>
          <p:cNvPr id="38" name="TextBox 37"/>
          <p:cNvSpPr txBox="1"/>
          <p:nvPr/>
        </p:nvSpPr>
        <p:spPr>
          <a:xfrm>
            <a:off x="92323" y="77211"/>
            <a:ext cx="2930037" cy="892552"/>
          </a:xfrm>
          <a:prstGeom prst="rect">
            <a:avLst/>
          </a:prstGeom>
          <a:noFill/>
        </p:spPr>
        <p:txBody>
          <a:bodyPr wrap="square" rtlCol="0">
            <a:spAutoFit/>
          </a:bodyPr>
          <a:lstStyle/>
          <a:p>
            <a:pPr algn="just"/>
            <a:r>
              <a:rPr lang="en-US" sz="2200" dirty="0">
                <a:solidFill>
                  <a:schemeClr val="bg1"/>
                </a:solidFill>
                <a:latin typeface="Adobe Fan Heiti Std B" panose="020B0700000000000000" pitchFamily="34" charset="-128"/>
                <a:ea typeface="Adobe Fan Heiti Std B" panose="020B0700000000000000" pitchFamily="34" charset="-128"/>
              </a:rPr>
              <a:t>MIS</a:t>
            </a:r>
          </a:p>
          <a:p>
            <a:pPr algn="just"/>
            <a:endParaRPr lang="en-US" sz="3000" dirty="0">
              <a:solidFill>
                <a:schemeClr val="bg1"/>
              </a:solidFill>
              <a:latin typeface="Adobe Fan Heiti Std B" panose="020B0700000000000000" pitchFamily="34" charset="-128"/>
              <a:ea typeface="Adobe Fan Heiti Std B" panose="020B0700000000000000" pitchFamily="34" charset="-128"/>
            </a:endParaRPr>
          </a:p>
        </p:txBody>
      </p:sp>
      <p:sp>
        <p:nvSpPr>
          <p:cNvPr id="16" name="Action Button: Forward or Next 11">
            <a:hlinkClick r:id="" action="ppaction://hlinkshowjump?jump=nextslide" highlightClick="1"/>
            <a:extLst>
              <a:ext uri="{FF2B5EF4-FFF2-40B4-BE49-F238E27FC236}">
                <a16:creationId xmlns:a16="http://schemas.microsoft.com/office/drawing/2014/main" id="{4EDEA5BD-5922-424C-90F2-16E436FD1C42}"/>
              </a:ext>
            </a:extLst>
          </p:cNvPr>
          <p:cNvSpPr/>
          <p:nvPr/>
        </p:nvSpPr>
        <p:spPr>
          <a:xfrm>
            <a:off x="103951" y="6126999"/>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456194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ppt_w</p:attrName>
                                        </p:attrNameLst>
                                      </p:cBhvr>
                                      <p:tavLst>
                                        <p:tav tm="0">
                                          <p:val>
                                            <p:fltVal val="0"/>
                                          </p:val>
                                        </p:tav>
                                        <p:tav tm="100000">
                                          <p:val>
                                            <p:strVal val="#ppt_w"/>
                                          </p:val>
                                        </p:tav>
                                      </p:tavLst>
                                    </p:anim>
                                    <p:anim calcmode="lin" valueType="num">
                                      <p:cBhvr>
                                        <p:cTn id="8" dur="1000" fill="hold"/>
                                        <p:tgtEl>
                                          <p:spTgt spid="21"/>
                                        </p:tgtEl>
                                        <p:attrNameLst>
                                          <p:attrName>ppt_h</p:attrName>
                                        </p:attrNameLst>
                                      </p:cBhvr>
                                      <p:tavLst>
                                        <p:tav tm="0">
                                          <p:val>
                                            <p:fltVal val="0"/>
                                          </p:val>
                                        </p:tav>
                                        <p:tav tm="100000">
                                          <p:val>
                                            <p:strVal val="#ppt_h"/>
                                          </p:val>
                                        </p:tav>
                                      </p:tavLst>
                                    </p:anim>
                                    <p:anim calcmode="lin" valueType="num">
                                      <p:cBhvr>
                                        <p:cTn id="9" dur="1000" fill="hold"/>
                                        <p:tgtEl>
                                          <p:spTgt spid="21"/>
                                        </p:tgtEl>
                                        <p:attrNameLst>
                                          <p:attrName>style.rotation</p:attrName>
                                        </p:attrNameLst>
                                      </p:cBhvr>
                                      <p:tavLst>
                                        <p:tav tm="0">
                                          <p:val>
                                            <p:fltVal val="90"/>
                                          </p:val>
                                        </p:tav>
                                        <p:tav tm="100000">
                                          <p:val>
                                            <p:fltVal val="0"/>
                                          </p:val>
                                        </p:tav>
                                      </p:tavLst>
                                    </p:anim>
                                    <p:animEffect transition="in" filter="fade">
                                      <p:cBhvr>
                                        <p:cTn id="10" dur="10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463339927"/>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How can a customer participate on the promo?</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8897051" cy="1477328"/>
          </a:xfrm>
          <a:prstGeom prst="rect">
            <a:avLst/>
          </a:prstGeom>
          <a:noFill/>
        </p:spPr>
        <p:txBody>
          <a:bodyPr wrap="none" rtlCol="0">
            <a:spAutoFit/>
          </a:bodyPr>
          <a:lstStyle/>
          <a:p>
            <a:pPr marL="285750" indent="-285750">
              <a:buFont typeface="Wingdings" panose="05000000000000000000" pitchFamily="2" charset="2"/>
              <a:buChar char="ü"/>
            </a:pPr>
            <a:r>
              <a:rPr lang="en-US" dirty="0"/>
              <a:t>For MP/MC division, customers with receipt transaction can participate on the promo.</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For The Monarch Hotel / Los </a:t>
            </a:r>
            <a:r>
              <a:rPr lang="en-US" dirty="0" err="1"/>
              <a:t>Pedritos</a:t>
            </a:r>
            <a:r>
              <a:rPr lang="en-US" dirty="0"/>
              <a:t>,  customers with receipt transaction can participate.</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For </a:t>
            </a:r>
            <a:r>
              <a:rPr lang="en-US" dirty="0" err="1"/>
              <a:t>AutoGroup</a:t>
            </a:r>
            <a:r>
              <a:rPr lang="en-US" dirty="0"/>
              <a:t>, with receipt transactions or branch visit or inquiry can participate.</a:t>
            </a:r>
          </a:p>
        </p:txBody>
      </p:sp>
    </p:spTree>
    <p:extLst>
      <p:ext uri="{BB962C8B-B14F-4D97-AF65-F5344CB8AC3E}">
        <p14:creationId xmlns:p14="http://schemas.microsoft.com/office/powerpoint/2010/main" val="3624561942"/>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185434209"/>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Facebook Like Raffle Promo Process</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7290714" cy="646331"/>
          </a:xfrm>
          <a:prstGeom prst="rect">
            <a:avLst/>
          </a:prstGeom>
          <a:noFill/>
        </p:spPr>
        <p:txBody>
          <a:bodyPr wrap="none" rtlCol="0">
            <a:spAutoFit/>
          </a:bodyPr>
          <a:lstStyle/>
          <a:p>
            <a:pPr marL="285750" indent="-285750">
              <a:buFont typeface="Wingdings" panose="05000000000000000000" pitchFamily="2" charset="2"/>
              <a:buChar char="ü"/>
            </a:pPr>
            <a:r>
              <a:rPr lang="en-US" dirty="0"/>
              <a:t>Sales, monthly payment, job order, etc. must be encoded on the system.</a:t>
            </a:r>
          </a:p>
          <a:p>
            <a:pPr marL="285750" indent="-285750">
              <a:buFont typeface="Wingdings" panose="05000000000000000000" pitchFamily="2" charset="2"/>
              <a:buChar char="ü"/>
            </a:pPr>
            <a:r>
              <a:rPr lang="en-US" dirty="0"/>
              <a:t>Receipts/invoices must be printed/posted. </a:t>
            </a:r>
          </a:p>
        </p:txBody>
      </p:sp>
      <p:sp>
        <p:nvSpPr>
          <p:cNvPr id="13" name="TextBox 12">
            <a:extLst>
              <a:ext uri="{FF2B5EF4-FFF2-40B4-BE49-F238E27FC236}">
                <a16:creationId xmlns:a16="http://schemas.microsoft.com/office/drawing/2014/main" id="{B8B8FBB1-CE34-4DC6-9243-269273D66EAF}"/>
              </a:ext>
            </a:extLst>
          </p:cNvPr>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Tree>
    <p:extLst>
      <p:ext uri="{BB962C8B-B14F-4D97-AF65-F5344CB8AC3E}">
        <p14:creationId xmlns:p14="http://schemas.microsoft.com/office/powerpoint/2010/main" val="3150309476"/>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4064095145"/>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Facebook Like Raffle Promo Process</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8714502" cy="923330"/>
          </a:xfrm>
          <a:prstGeom prst="rect">
            <a:avLst/>
          </a:prstGeom>
          <a:noFill/>
        </p:spPr>
        <p:txBody>
          <a:bodyPr wrap="none" rtlCol="0">
            <a:spAutoFit/>
          </a:bodyPr>
          <a:lstStyle/>
          <a:p>
            <a:pPr marL="285750" indent="-285750">
              <a:buFont typeface="Wingdings" panose="05000000000000000000" pitchFamily="2" charset="2"/>
              <a:buChar char="ü"/>
            </a:pPr>
            <a:r>
              <a:rPr lang="en-US" dirty="0"/>
              <a:t>A utility will capture the encoded transaction automatically. (Configured by MIS)</a:t>
            </a:r>
          </a:p>
          <a:p>
            <a:pPr marL="285750" indent="-285750">
              <a:buFont typeface="Wingdings" panose="05000000000000000000" pitchFamily="2" charset="2"/>
              <a:buChar char="ü"/>
            </a:pPr>
            <a:r>
              <a:rPr lang="en-US" dirty="0"/>
              <a:t>On database/system failure, the branch can opt to manually encode the transaction info</a:t>
            </a:r>
          </a:p>
          <a:p>
            <a:r>
              <a:rPr lang="en-US" dirty="0"/>
              <a:t>      to be sent on the server and process the customer’s raffle entry for his transaction.</a:t>
            </a:r>
          </a:p>
        </p:txBody>
      </p:sp>
      <p:sp>
        <p:nvSpPr>
          <p:cNvPr id="13" name="Rectangle 12">
            <a:extLst>
              <a:ext uri="{FF2B5EF4-FFF2-40B4-BE49-F238E27FC236}">
                <a16:creationId xmlns:a16="http://schemas.microsoft.com/office/drawing/2014/main" id="{28A52C72-B65A-471A-9368-C8B62B4D6AD7}"/>
              </a:ext>
            </a:extLst>
          </p:cNvPr>
          <p:cNvSpPr/>
          <p:nvPr/>
        </p:nvSpPr>
        <p:spPr>
          <a:xfrm>
            <a:off x="1097281" y="2624809"/>
            <a:ext cx="2883341" cy="307777"/>
          </a:xfrm>
          <a:prstGeom prst="rect">
            <a:avLst/>
          </a:prstGeom>
          <a:noFill/>
        </p:spPr>
        <p:txBody>
          <a:bodyPr wrap="squar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400" dirty="0">
                <a:ln w="0"/>
                <a:solidFill>
                  <a:schemeClr val="accent1"/>
                </a:solidFill>
                <a:latin typeface="Adobe Fan Heiti Std B" panose="020B0700000000000000" pitchFamily="34" charset="-128"/>
                <a:ea typeface="Adobe Fan Heiti Std B" panose="020B0700000000000000" pitchFamily="34" charset="-128"/>
              </a:rPr>
              <a:t>Auto Capture Utility</a:t>
            </a:r>
          </a:p>
        </p:txBody>
      </p:sp>
      <p:sp>
        <p:nvSpPr>
          <p:cNvPr id="14" name="Rectangle 13">
            <a:extLst>
              <a:ext uri="{FF2B5EF4-FFF2-40B4-BE49-F238E27FC236}">
                <a16:creationId xmlns:a16="http://schemas.microsoft.com/office/drawing/2014/main" id="{85176F10-05C2-444B-9D6B-45B3852932B5}"/>
              </a:ext>
            </a:extLst>
          </p:cNvPr>
          <p:cNvSpPr/>
          <p:nvPr/>
        </p:nvSpPr>
        <p:spPr>
          <a:xfrm>
            <a:off x="5881967" y="5794216"/>
            <a:ext cx="2883341" cy="307777"/>
          </a:xfrm>
          <a:prstGeom prst="rect">
            <a:avLst/>
          </a:prstGeom>
          <a:noFill/>
        </p:spPr>
        <p:txBody>
          <a:bodyPr wrap="squar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400" dirty="0">
                <a:ln w="0"/>
                <a:solidFill>
                  <a:schemeClr val="accent1"/>
                </a:solidFill>
                <a:latin typeface="Adobe Fan Heiti Std B" panose="020B0700000000000000" pitchFamily="34" charset="-128"/>
                <a:ea typeface="Adobe Fan Heiti Std B" panose="020B0700000000000000" pitchFamily="34" charset="-128"/>
              </a:rPr>
              <a:t>Manual Encoding</a:t>
            </a:r>
          </a:p>
        </p:txBody>
      </p:sp>
      <p:sp>
        <p:nvSpPr>
          <p:cNvPr id="15" name="TextBox 14">
            <a:extLst>
              <a:ext uri="{FF2B5EF4-FFF2-40B4-BE49-F238E27FC236}">
                <a16:creationId xmlns:a16="http://schemas.microsoft.com/office/drawing/2014/main" id="{F1FC02D2-9F50-4661-A524-85E06D714986}"/>
              </a:ext>
            </a:extLst>
          </p:cNvPr>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Tree>
    <p:extLst>
      <p:ext uri="{BB962C8B-B14F-4D97-AF65-F5344CB8AC3E}">
        <p14:creationId xmlns:p14="http://schemas.microsoft.com/office/powerpoint/2010/main" val="1104055939"/>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768053149"/>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Facebook Like Raffle Promo Process</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9051260" cy="646331"/>
          </a:xfrm>
          <a:prstGeom prst="rect">
            <a:avLst/>
          </a:prstGeom>
          <a:noFill/>
        </p:spPr>
        <p:txBody>
          <a:bodyPr wrap="none" rtlCol="0">
            <a:spAutoFit/>
          </a:bodyPr>
          <a:lstStyle/>
          <a:p>
            <a:pPr marL="285750" indent="-285750">
              <a:buFont typeface="Wingdings" panose="05000000000000000000" pitchFamily="2" charset="2"/>
              <a:buChar char="ü"/>
            </a:pPr>
            <a:r>
              <a:rPr lang="en-US" dirty="0"/>
              <a:t>When the transaction info saved on the server, a message containing the raffle link with the</a:t>
            </a:r>
          </a:p>
          <a:p>
            <a:r>
              <a:rPr lang="en-US" dirty="0"/>
              <a:t>      document number will be sent to the customer via SMS.</a:t>
            </a:r>
          </a:p>
        </p:txBody>
      </p:sp>
      <p:pic>
        <p:nvPicPr>
          <p:cNvPr id="15" name="Picture 14">
            <a:extLst>
              <a:ext uri="{FF2B5EF4-FFF2-40B4-BE49-F238E27FC236}">
                <a16:creationId xmlns:a16="http://schemas.microsoft.com/office/drawing/2014/main" id="{A4AB5E8A-7917-4746-8717-B3DFD896026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34524" y="1629351"/>
            <a:ext cx="720638" cy="720729"/>
          </a:xfrm>
          <a:prstGeom prst="rect">
            <a:avLst/>
          </a:prstGeom>
        </p:spPr>
      </p:pic>
      <p:pic>
        <p:nvPicPr>
          <p:cNvPr id="8" name="Picture 7">
            <a:extLst>
              <a:ext uri="{FF2B5EF4-FFF2-40B4-BE49-F238E27FC236}">
                <a16:creationId xmlns:a16="http://schemas.microsoft.com/office/drawing/2014/main" id="{FD0BD7B3-A2D0-4167-924A-FE94A7C4D69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406556" y="1736088"/>
            <a:ext cx="2330887" cy="4145872"/>
          </a:xfrm>
          <a:prstGeom prst="rect">
            <a:avLst/>
          </a:prstGeom>
        </p:spPr>
      </p:pic>
      <p:sp>
        <p:nvSpPr>
          <p:cNvPr id="16" name="TextBox 15">
            <a:extLst>
              <a:ext uri="{FF2B5EF4-FFF2-40B4-BE49-F238E27FC236}">
                <a16:creationId xmlns:a16="http://schemas.microsoft.com/office/drawing/2014/main" id="{23D8239F-FCEE-450F-AB97-AE4DA51EC392}"/>
              </a:ext>
            </a:extLst>
          </p:cNvPr>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Tree>
    <p:extLst>
      <p:ext uri="{BB962C8B-B14F-4D97-AF65-F5344CB8AC3E}">
        <p14:creationId xmlns:p14="http://schemas.microsoft.com/office/powerpoint/2010/main" val="2833861816"/>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88199900"/>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Facebook Like Raffle Promo Process</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7615739" cy="1200329"/>
          </a:xfrm>
          <a:prstGeom prst="rect">
            <a:avLst/>
          </a:prstGeom>
          <a:noFill/>
        </p:spPr>
        <p:txBody>
          <a:bodyPr wrap="none" rtlCol="0">
            <a:spAutoFit/>
          </a:bodyPr>
          <a:lstStyle/>
          <a:p>
            <a:pPr marL="285750" indent="-285750">
              <a:buFont typeface="Wingdings" panose="05000000000000000000" pitchFamily="2" charset="2"/>
              <a:buChar char="ü"/>
            </a:pPr>
            <a:r>
              <a:rPr lang="en-US" dirty="0"/>
              <a:t>When the customer clicks the link, he will be redirected to the promo page.</a:t>
            </a:r>
          </a:p>
          <a:p>
            <a:pPr marL="285750" indent="-285750">
              <a:buFont typeface="Wingdings" panose="05000000000000000000" pitchFamily="2" charset="2"/>
              <a:buChar char="ü"/>
            </a:pPr>
            <a:r>
              <a:rPr lang="en-US" dirty="0"/>
              <a:t>If he is logged on his phone’s browse he will get in directly to the main page.</a:t>
            </a:r>
          </a:p>
          <a:p>
            <a:pPr marL="285750" indent="-285750">
              <a:buFont typeface="Wingdings" panose="05000000000000000000" pitchFamily="2" charset="2"/>
              <a:buChar char="ü"/>
            </a:pPr>
            <a:r>
              <a:rPr lang="en-US" dirty="0"/>
              <a:t>If not, he will have to login his </a:t>
            </a:r>
            <a:r>
              <a:rPr lang="en-US" dirty="0" err="1"/>
              <a:t>facebook</a:t>
            </a:r>
            <a:r>
              <a:rPr lang="en-US" dirty="0"/>
              <a:t> account.</a:t>
            </a:r>
          </a:p>
          <a:p>
            <a:pPr marL="285750" indent="-285750">
              <a:buFont typeface="Wingdings" panose="05000000000000000000" pitchFamily="2" charset="2"/>
              <a:buChar char="ü"/>
            </a:pPr>
            <a:r>
              <a:rPr lang="en-US" dirty="0"/>
              <a:t>Please note that every division has different main page designs.</a:t>
            </a:r>
          </a:p>
        </p:txBody>
      </p:sp>
      <p:sp>
        <p:nvSpPr>
          <p:cNvPr id="13" name="TextBox 12">
            <a:extLst>
              <a:ext uri="{FF2B5EF4-FFF2-40B4-BE49-F238E27FC236}">
                <a16:creationId xmlns:a16="http://schemas.microsoft.com/office/drawing/2014/main" id="{C8200F1B-FF50-4A54-A84C-4BFE3F4CBEE7}"/>
              </a:ext>
            </a:extLst>
          </p:cNvPr>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Tree>
    <p:extLst>
      <p:ext uri="{BB962C8B-B14F-4D97-AF65-F5344CB8AC3E}">
        <p14:creationId xmlns:p14="http://schemas.microsoft.com/office/powerpoint/2010/main" val="2866259808"/>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3284264388"/>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Facebook Like Raffle Promo Process</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9076908" cy="1477328"/>
          </a:xfrm>
          <a:prstGeom prst="rect">
            <a:avLst/>
          </a:prstGeom>
          <a:noFill/>
        </p:spPr>
        <p:txBody>
          <a:bodyPr wrap="none" rtlCol="0">
            <a:spAutoFit/>
          </a:bodyPr>
          <a:lstStyle/>
          <a:p>
            <a:pPr marL="285750" indent="-285750">
              <a:buFont typeface="Wingdings" panose="05000000000000000000" pitchFamily="2" charset="2"/>
              <a:buChar char="ü"/>
            </a:pPr>
            <a:r>
              <a:rPr lang="en-US" dirty="0"/>
              <a:t>When customer clicks the button for the company. The “Company Cover Photo” will appear.</a:t>
            </a:r>
          </a:p>
          <a:p>
            <a:pPr marL="285750" indent="-285750">
              <a:buFont typeface="Wingdings" panose="05000000000000000000" pitchFamily="2" charset="2"/>
              <a:buChar char="ü"/>
            </a:pPr>
            <a:r>
              <a:rPr lang="en-US" dirty="0"/>
              <a:t>If the page is not yet LIKED, the user must click “Like Page”.</a:t>
            </a:r>
          </a:p>
          <a:p>
            <a:pPr marL="285750" indent="-285750">
              <a:buFont typeface="Wingdings" panose="05000000000000000000" pitchFamily="2" charset="2"/>
              <a:buChar char="ü"/>
            </a:pPr>
            <a:r>
              <a:rPr lang="en-US" dirty="0"/>
              <a:t>If it was already LIKED, just click the “Submit” button to earn a raffle ticket.</a:t>
            </a:r>
          </a:p>
          <a:p>
            <a:pPr marL="285750" indent="-285750">
              <a:buFont typeface="Wingdings" panose="05000000000000000000" pitchFamily="2" charset="2"/>
              <a:buChar char="ü"/>
            </a:pPr>
            <a:r>
              <a:rPr lang="en-US" dirty="0"/>
              <a:t>SMS confirmation will be sent to the customer containing the raffle ticket number.</a:t>
            </a:r>
          </a:p>
          <a:p>
            <a:pPr marL="285750" indent="-285750">
              <a:buFont typeface="Wingdings" panose="05000000000000000000" pitchFamily="2" charset="2"/>
              <a:buChar char="ü"/>
            </a:pPr>
            <a:endParaRPr lang="en-US" dirty="0"/>
          </a:p>
        </p:txBody>
      </p:sp>
      <p:pic>
        <p:nvPicPr>
          <p:cNvPr id="8" name="Picture 7">
            <a:extLst>
              <a:ext uri="{FF2B5EF4-FFF2-40B4-BE49-F238E27FC236}">
                <a16:creationId xmlns:a16="http://schemas.microsoft.com/office/drawing/2014/main" id="{C755421D-CE8F-42F3-8F07-B353D0D3BC3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51113" y="2333775"/>
            <a:ext cx="1961337" cy="3488565"/>
          </a:xfrm>
          <a:prstGeom prst="rect">
            <a:avLst/>
          </a:prstGeom>
        </p:spPr>
      </p:pic>
      <p:pic>
        <p:nvPicPr>
          <p:cNvPr id="13" name="Picture 12">
            <a:extLst>
              <a:ext uri="{FF2B5EF4-FFF2-40B4-BE49-F238E27FC236}">
                <a16:creationId xmlns:a16="http://schemas.microsoft.com/office/drawing/2014/main" id="{4091542C-E733-45CA-A178-BA382DD6CED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463563" y="2333329"/>
            <a:ext cx="1961337" cy="3488565"/>
          </a:xfrm>
          <a:prstGeom prst="rect">
            <a:avLst/>
          </a:prstGeom>
        </p:spPr>
      </p:pic>
      <p:sp>
        <p:nvSpPr>
          <p:cNvPr id="15" name="TextBox 14">
            <a:extLst>
              <a:ext uri="{FF2B5EF4-FFF2-40B4-BE49-F238E27FC236}">
                <a16:creationId xmlns:a16="http://schemas.microsoft.com/office/drawing/2014/main" id="{FF375D8E-B912-4691-B018-E68309D9DC54}"/>
              </a:ext>
            </a:extLst>
          </p:cNvPr>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Tree>
    <p:extLst>
      <p:ext uri="{BB962C8B-B14F-4D97-AF65-F5344CB8AC3E}">
        <p14:creationId xmlns:p14="http://schemas.microsoft.com/office/powerpoint/2010/main" val="1744689561"/>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694299734"/>
              </p:ext>
            </p:extLst>
          </p:nvPr>
        </p:nvGraphicFramePr>
        <p:xfrm>
          <a:off x="0" y="486938"/>
          <a:ext cx="9126122" cy="6112202"/>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9" name="TextBox 18"/>
          <p:cNvSpPr txBox="1"/>
          <p:nvPr/>
        </p:nvSpPr>
        <p:spPr>
          <a:xfrm>
            <a:off x="4065148" y="61131"/>
            <a:ext cx="5176387" cy="646331"/>
          </a:xfrm>
          <a:prstGeom prst="rect">
            <a:avLst/>
          </a:prstGeom>
          <a:noFill/>
        </p:spPr>
        <p:txBody>
          <a:bodyPr wrap="square" rtlCol="0">
            <a:spAutoFit/>
          </a:bodyPr>
          <a:lstStyle/>
          <a:p>
            <a:pPr lvl="0"/>
            <a:r>
              <a:rPr lang="en-US" b="1" dirty="0"/>
              <a:t>Facebook Like Raffle Promo Process</a:t>
            </a:r>
            <a:endParaRPr lang="en-US" dirty="0"/>
          </a:p>
          <a:p>
            <a:endParaRPr lang="en-US" dirty="0"/>
          </a:p>
        </p:txBody>
      </p:sp>
      <p:sp>
        <p:nvSpPr>
          <p:cNvPr id="4" name="TextBox 3">
            <a:extLst>
              <a:ext uri="{FF2B5EF4-FFF2-40B4-BE49-F238E27FC236}">
                <a16:creationId xmlns:a16="http://schemas.microsoft.com/office/drawing/2014/main" id="{F116FE23-AA68-4556-95E9-2B32D64EB0B3}"/>
              </a:ext>
            </a:extLst>
          </p:cNvPr>
          <p:cNvSpPr txBox="1"/>
          <p:nvPr/>
        </p:nvSpPr>
        <p:spPr>
          <a:xfrm>
            <a:off x="34849" y="856447"/>
            <a:ext cx="8930265" cy="1200329"/>
          </a:xfrm>
          <a:prstGeom prst="rect">
            <a:avLst/>
          </a:prstGeom>
          <a:noFill/>
        </p:spPr>
        <p:txBody>
          <a:bodyPr wrap="none" rtlCol="0">
            <a:spAutoFit/>
          </a:bodyPr>
          <a:lstStyle/>
          <a:p>
            <a:pPr marL="285750" indent="-285750">
              <a:buFont typeface="Wingdings" panose="05000000000000000000" pitchFamily="2" charset="2"/>
              <a:buChar char="ü"/>
            </a:pPr>
            <a:r>
              <a:rPr lang="en-US" dirty="0"/>
              <a:t>The user can earn maximum of 7 raffle tickets by also liking our partners.</a:t>
            </a:r>
          </a:p>
          <a:p>
            <a:pPr marL="285750" indent="-285750">
              <a:buFont typeface="Wingdings" panose="05000000000000000000" pitchFamily="2" charset="2"/>
              <a:buChar char="ü"/>
            </a:pPr>
            <a:r>
              <a:rPr lang="en-US" dirty="0"/>
              <a:t>The process is still the same from the main company, the user must like the other pages to</a:t>
            </a:r>
          </a:p>
          <a:p>
            <a:r>
              <a:rPr lang="en-US" dirty="0"/>
              <a:t>      earn raffle tickets. </a:t>
            </a:r>
          </a:p>
          <a:p>
            <a:pPr marL="285750" indent="-285750">
              <a:buFont typeface="Wingdings" panose="05000000000000000000" pitchFamily="2" charset="2"/>
              <a:buChar char="ü"/>
            </a:pPr>
            <a:endParaRPr lang="en-US" dirty="0"/>
          </a:p>
        </p:txBody>
      </p:sp>
      <p:pic>
        <p:nvPicPr>
          <p:cNvPr id="8" name="Picture 7">
            <a:extLst>
              <a:ext uri="{FF2B5EF4-FFF2-40B4-BE49-F238E27FC236}">
                <a16:creationId xmlns:a16="http://schemas.microsoft.com/office/drawing/2014/main" id="{DA5F6340-2564-4F9C-ADB6-AA1A4D3C5E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5476" y="1983880"/>
            <a:ext cx="2123753" cy="3777449"/>
          </a:xfrm>
          <a:prstGeom prst="rect">
            <a:avLst/>
          </a:prstGeom>
        </p:spPr>
      </p:pic>
      <p:pic>
        <p:nvPicPr>
          <p:cNvPr id="14" name="Picture 13">
            <a:extLst>
              <a:ext uri="{FF2B5EF4-FFF2-40B4-BE49-F238E27FC236}">
                <a16:creationId xmlns:a16="http://schemas.microsoft.com/office/drawing/2014/main" id="{65470084-9444-4317-AC54-BC4028C3B83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10123" y="1981851"/>
            <a:ext cx="2123753" cy="3777449"/>
          </a:xfrm>
          <a:prstGeom prst="rect">
            <a:avLst/>
          </a:prstGeom>
        </p:spPr>
      </p:pic>
      <p:pic>
        <p:nvPicPr>
          <p:cNvPr id="13" name="Picture 12">
            <a:extLst>
              <a:ext uri="{FF2B5EF4-FFF2-40B4-BE49-F238E27FC236}">
                <a16:creationId xmlns:a16="http://schemas.microsoft.com/office/drawing/2014/main" id="{3AAE4392-52A6-4A18-8855-884D2D7861A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646950" y="1981850"/>
            <a:ext cx="2123753" cy="3777449"/>
          </a:xfrm>
          <a:prstGeom prst="rect">
            <a:avLst/>
          </a:prstGeom>
        </p:spPr>
      </p:pic>
      <p:sp>
        <p:nvSpPr>
          <p:cNvPr id="16" name="TextBox 15">
            <a:extLst>
              <a:ext uri="{FF2B5EF4-FFF2-40B4-BE49-F238E27FC236}">
                <a16:creationId xmlns:a16="http://schemas.microsoft.com/office/drawing/2014/main" id="{33232E8E-941C-4080-8FB8-186987E90B48}"/>
              </a:ext>
            </a:extLst>
          </p:cNvPr>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dobe Fan Heiti Std B" panose="020B0700000000000000" pitchFamily="34" charset="-128"/>
                <a:ea typeface="Adobe Fan Heiti Std B" panose="020B0700000000000000" pitchFamily="34" charset="-128"/>
              </a:rPr>
              <a:t>Facebook LIKE Raffle Promo</a:t>
            </a:r>
          </a:p>
        </p:txBody>
      </p:sp>
    </p:spTree>
    <p:extLst>
      <p:ext uri="{BB962C8B-B14F-4D97-AF65-F5344CB8AC3E}">
        <p14:creationId xmlns:p14="http://schemas.microsoft.com/office/powerpoint/2010/main" val="431731625"/>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6433</TotalTime>
  <Words>984</Words>
  <Application>Microsoft Office PowerPoint</Application>
  <PresentationFormat>On-screen Show (4:3)</PresentationFormat>
  <Paragraphs>67</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Adobe Fan Heiti Std B</vt:lpstr>
      <vt:lpstr>Adobe Gothic Std B</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Jet Omaguing</dc:creator>
  <cp:lastModifiedBy>Michael Cuison</cp:lastModifiedBy>
  <cp:revision>793</cp:revision>
  <dcterms:created xsi:type="dcterms:W3CDTF">2018-06-27T09:25:47Z</dcterms:created>
  <dcterms:modified xsi:type="dcterms:W3CDTF">2020-11-30T06:16:45Z</dcterms:modified>
</cp:coreProperties>
</file>