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3.xml" ContentType="application/vnd.openxmlformats-officedocument.presentationml.notesSlide+xml"/>
  <Override PartName="/ppt/charts/chart2.xml" ContentType="application/vnd.openxmlformats-officedocument.drawingml.chart+xml"/>
  <Override PartName="/ppt/drawings/drawing2.xml" ContentType="application/vnd.openxmlformats-officedocument.drawingml.chartshapes+xml"/>
  <Override PartName="/ppt/notesSlides/notesSlide4.xml" ContentType="application/vnd.openxmlformats-officedocument.presentationml.notesSlide+xml"/>
  <Override PartName="/ppt/charts/chart3.xml" ContentType="application/vnd.openxmlformats-officedocument.drawingml.chart+xml"/>
  <Override PartName="/ppt/drawings/drawing3.xml" ContentType="application/vnd.openxmlformats-officedocument.drawingml.chartshapes+xml"/>
  <Override PartName="/ppt/notesSlides/notesSlide5.xml" ContentType="application/vnd.openxmlformats-officedocument.presentationml.notesSlide+xml"/>
  <Override PartName="/ppt/charts/chart4.xml" ContentType="application/vnd.openxmlformats-officedocument.drawingml.chart+xml"/>
  <Override PartName="/ppt/drawings/drawing4.xml" ContentType="application/vnd.openxmlformats-officedocument.drawingml.chartshapes+xml"/>
  <Override PartName="/ppt/notesSlides/notesSlide6.xml" ContentType="application/vnd.openxmlformats-officedocument.presentationml.notesSlide+xml"/>
  <Override PartName="/ppt/charts/chart5.xml" ContentType="application/vnd.openxmlformats-officedocument.drawingml.chart+xml"/>
  <Override PartName="/ppt/drawings/drawing5.xml" ContentType="application/vnd.openxmlformats-officedocument.drawingml.chartshapes+xml"/>
  <Override PartName="/ppt/notesSlides/notesSlide7.xml" ContentType="application/vnd.openxmlformats-officedocument.presentationml.notesSlide+xml"/>
  <Override PartName="/ppt/charts/chart6.xml" ContentType="application/vnd.openxmlformats-officedocument.drawingml.chart+xml"/>
  <Override PartName="/ppt/drawings/drawing6.xml" ContentType="application/vnd.openxmlformats-officedocument.drawingml.chartshapes+xml"/>
  <Override PartName="/ppt/notesSlides/notesSlide8.xml" ContentType="application/vnd.openxmlformats-officedocument.presentationml.notesSlide+xml"/>
  <Override PartName="/ppt/charts/chart7.xml" ContentType="application/vnd.openxmlformats-officedocument.drawingml.chart+xml"/>
  <Override PartName="/ppt/drawings/drawing7.xml" ContentType="application/vnd.openxmlformats-officedocument.drawingml.chartshapes+xml"/>
  <Override PartName="/ppt/notesSlides/notesSlide9.xml" ContentType="application/vnd.openxmlformats-officedocument.presentationml.notesSlide+xml"/>
  <Override PartName="/ppt/charts/chart8.xml" ContentType="application/vnd.openxmlformats-officedocument.drawingml.chart+xml"/>
  <Override PartName="/ppt/drawings/drawing8.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64" r:id="rId3"/>
    <p:sldId id="300" r:id="rId4"/>
    <p:sldId id="324" r:id="rId5"/>
    <p:sldId id="325" r:id="rId6"/>
    <p:sldId id="319" r:id="rId7"/>
    <p:sldId id="323" r:id="rId8"/>
    <p:sldId id="321" r:id="rId9"/>
    <p:sldId id="322" r:id="rId10"/>
    <p:sldId id="320"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8D2E"/>
    <a:srgbClr val="FF9800"/>
    <a:srgbClr val="B2B2B2"/>
    <a:srgbClr val="081F2C"/>
    <a:srgbClr val="6C6A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autoAdjust="0"/>
    <p:restoredTop sz="75838" autoAdjust="0"/>
  </p:normalViewPr>
  <p:slideViewPr>
    <p:cSldViewPr snapToGrid="0">
      <p:cViewPr varScale="1">
        <p:scale>
          <a:sx n="88" d="100"/>
          <a:sy n="88" d="100"/>
        </p:scale>
        <p:origin x="2424" y="7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2" Type="http://schemas.openxmlformats.org/officeDocument/2006/relationships/chartUserShapes" Target="../drawings/drawing7.xml"/><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2" Type="http://schemas.openxmlformats.org/officeDocument/2006/relationships/chartUserShapes" Target="../drawings/drawing8.xml"/><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58"/>
          <c:y val="0.10381402836825256"/>
          <c:w val="0.54757234233774088"/>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579678422006647"/>
          <c:y val="0.10381402836825258"/>
          <c:w val="0.54757234233774066"/>
          <c:h val="0.8718139013613293"/>
        </c:manualLayout>
      </c:layout>
      <c:pieChart>
        <c:varyColors val="1"/>
        <c:dLbls>
          <c:showLegendKey val="0"/>
          <c:showVal val="0"/>
          <c:showCatName val="1"/>
          <c:showSerName val="0"/>
          <c:showPercent val="1"/>
          <c:showBubbleSize val="0"/>
          <c:showLeaderLines val="0"/>
        </c:dLbls>
        <c:firstSliceAng val="0"/>
      </c:pieChart>
      <c:spPr>
        <a:noFill/>
        <a:ln>
          <a:noFill/>
        </a:ln>
        <a:effectLst/>
      </c:spPr>
    </c:plotArea>
    <c:plotVisOnly val="1"/>
    <c:dispBlanksAs val="zero"/>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1">
    <c:autoUpdate val="0"/>
  </c:externalData>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4.png"/></Relationships>
</file>

<file path=ppt/drawings/drawing1.xml><?xml version="1.0" encoding="utf-8"?>
<c:userShapes xmlns:c="http://schemas.openxmlformats.org/drawingml/2006/chart">
  <cdr:relSizeAnchor xmlns:cdr="http://schemas.openxmlformats.org/drawingml/2006/chartDrawing">
    <cdr:from>
      <cdr:x>0.22871</cdr:x>
      <cdr:y>0.40479</cdr:y>
    </cdr:from>
    <cdr:to>
      <cdr:x>0.70229</cdr:x>
      <cdr:y>0.53276</cdr:y>
    </cdr:to>
    <cdr:sp macro="" textlink="">
      <cdr:nvSpPr>
        <cdr:cNvPr id="2" name="Rectangle 1">
          <a:extLst xmlns:a="http://schemas.openxmlformats.org/drawingml/2006/main">
            <a:ext uri="{FF2B5EF4-FFF2-40B4-BE49-F238E27FC236}">
              <a16:creationId xmlns:a16="http://schemas.microsoft.com/office/drawing/2014/main" id="{E302C15D-1689-4E76-84CD-578C6749C71B}"/>
            </a:ext>
          </a:extLst>
        </cdr:cNvPr>
        <cdr:cNvSpPr/>
      </cdr:nvSpPr>
      <cdr:spPr>
        <a:xfrm xmlns:a="http://schemas.openxmlformats.org/drawingml/2006/main">
          <a:off x="2087204" y="2433980"/>
          <a:ext cx="4322017" cy="769441"/>
        </a:xfrm>
        <a:prstGeom xmlns:a="http://schemas.openxmlformats.org/drawingml/2006/main" prst="rect">
          <a:avLst/>
        </a:prstGeom>
        <a:noFill xmlns:a="http://schemas.openxmlformats.org/drawingml/2006/main"/>
      </cdr:spPr>
      <cdr:txBody>
        <a:bodyPr xmlns:a="http://schemas.openxmlformats.org/drawingml/2006/main" wrap="none" lIns="91440" tIns="45720" rIns="91440" bIns="45720">
          <a:spAutoFit/>
        </a:bodyPr>
        <a:lstStyle xmlns:a="http://schemas.openxmlformats.org/drawingml/2006/main">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xmlns:a="http://schemas.openxmlformats.org/drawingml/2006/main">
          <a:r>
            <a:rPr lang="en-US" sz="4400" b="1" dirty="0">
              <a:ln w="9525">
                <a:solidFill>
                  <a:schemeClr val="tx1"/>
                </a:solidFill>
                <a:prstDash val="solid"/>
              </a:ln>
              <a:effectLst>
                <a:outerShdw blurRad="12700" dist="38100" dir="2700000" algn="tl" rotWithShape="0">
                  <a:schemeClr val="bg1">
                    <a:lumMod val="50000"/>
                  </a:schemeClr>
                </a:outerShdw>
              </a:effectLst>
            </a:rPr>
            <a:t>Accomplishments</a:t>
          </a:r>
        </a:p>
      </cdr:txBody>
    </cdr:sp>
  </cdr:relSizeAnchor>
  <cdr:relSizeAnchor xmlns:cdr="http://schemas.openxmlformats.org/drawingml/2006/chartDrawing">
    <cdr:from>
      <cdr:x>0.08297</cdr:x>
      <cdr:y>0.37643</cdr:y>
    </cdr:from>
    <cdr:to>
      <cdr:x>0.1972</cdr:x>
      <cdr:y>0.54979</cdr:y>
    </cdr:to>
    <cdr:pic>
      <cdr:nvPicPr>
        <cdr:cNvPr id="3" name="Picture 2">
          <a:extLst xmlns:a="http://schemas.openxmlformats.org/drawingml/2006/main">
            <a:ext uri="{FF2B5EF4-FFF2-40B4-BE49-F238E27FC236}">
              <a16:creationId xmlns:a16="http://schemas.microsoft.com/office/drawing/2014/main" id="{CD174961-99D1-4F83-AC7D-A04F41DFFCC9}"/>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cstate="print">
          <a:extLst>
            <a:ext uri="{28A0092B-C50C-407E-A947-70E740481C1C}">
              <a14:useLocalDpi xmlns:a14="http://schemas.microsoft.com/office/drawing/2010/main" val="0"/>
            </a:ext>
          </a:extLst>
        </a:blip>
        <a:stretch xmlns:a="http://schemas.openxmlformats.org/drawingml/2006/main">
          <a:fillRect/>
        </a:stretch>
      </cdr:blipFill>
      <cdr:spPr>
        <a:xfrm xmlns:a="http://schemas.openxmlformats.org/drawingml/2006/main">
          <a:off x="757234" y="2263440"/>
          <a:ext cx="1042416" cy="1042416"/>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3.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4.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5.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6.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7.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drawings/drawing8.xml><?xml version="1.0" encoding="utf-8"?>
<c:userShapes xmlns:c="http://schemas.openxmlformats.org/drawingml/2006/chart">
  <cdr:relSizeAnchor xmlns:cdr="http://schemas.openxmlformats.org/drawingml/2006/chartDrawing">
    <cdr:from>
      <cdr:x>0.16914</cdr:x>
      <cdr:y>0.11097</cdr:y>
    </cdr:from>
    <cdr:to>
      <cdr:x>0.45894</cdr:x>
      <cdr:y>0.2838</cdr:y>
    </cdr:to>
    <cdr:sp macro="" textlink="">
      <cdr:nvSpPr>
        <cdr:cNvPr id="6" name="TextBox 5"/>
        <cdr:cNvSpPr txBox="1"/>
      </cdr:nvSpPr>
      <cdr:spPr>
        <a:xfrm xmlns:a="http://schemas.openxmlformats.org/drawingml/2006/main">
          <a:off x="1543636" y="659329"/>
          <a:ext cx="2644726" cy="1026941"/>
        </a:xfrm>
        <a:prstGeom xmlns:a="http://schemas.openxmlformats.org/drawingml/2006/main" prst="rect">
          <a:avLst/>
        </a:prstGeom>
      </cdr:spPr>
      <cdr:txBody>
        <a:bodyPr xmlns:a="http://schemas.openxmlformats.org/drawingml/2006/main" wrap="square" rtlCol="0"/>
        <a:lstStyle xmlns:a="http://schemas.openxmlformats.org/drawingml/2006/main"/>
        <a:p xmlns:a="http://schemas.openxmlformats.org/drawingml/2006/main">
          <a:endParaRPr lang="en-US" sz="1100" dirty="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4BDE55-35D3-4A40-AD33-0B9324017773}" type="datetimeFigureOut">
              <a:rPr lang="en-PH" smtClean="0"/>
              <a:pPr/>
              <a:t>10/12/2020</a:t>
            </a:fld>
            <a:endParaRPr lang="en-PH"/>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BDC400-2BB4-4D75-9C23-2A869DBE2B21}" type="slidenum">
              <a:rPr lang="en-PH" smtClean="0"/>
              <a:pPr/>
              <a:t>‹#›</a:t>
            </a:fld>
            <a:endParaRPr lang="en-PH"/>
          </a:p>
        </p:txBody>
      </p:sp>
    </p:spTree>
    <p:extLst>
      <p:ext uri="{BB962C8B-B14F-4D97-AF65-F5344CB8AC3E}">
        <p14:creationId xmlns:p14="http://schemas.microsoft.com/office/powerpoint/2010/main" val="234822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2</a:t>
            </a:fld>
            <a:endParaRPr lang="en-PH"/>
          </a:p>
        </p:txBody>
      </p:sp>
    </p:spTree>
    <p:extLst>
      <p:ext uri="{BB962C8B-B14F-4D97-AF65-F5344CB8AC3E}">
        <p14:creationId xmlns:p14="http://schemas.microsoft.com/office/powerpoint/2010/main" val="265085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3</a:t>
            </a:fld>
            <a:endParaRPr lang="en-PH"/>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CCTV Monitoring – Online are branches with HIK Connect app that was accessible. Offline are branches with lower version of DVR that need a port to ISP modem to connect to internet, we can’t set it online because most of our branch are converted to fiber internet where in the modem only has 1 port. For installation are new branches that are for installation on CCTV.</a:t>
            </a:r>
          </a:p>
          <a:p>
            <a:endParaRPr lang="en-US" dirty="0"/>
          </a:p>
          <a:p>
            <a:r>
              <a:rPr lang="en-US" dirty="0"/>
              <a:t>GPS Installation – Working are devices that sim cards can be called. While not working are cannot be reached devices. Cause of this is the devices installed on some old model motorcycles has not enough power to supply on the GPS device. This devices works well on 4 wheels vehicles.</a:t>
            </a:r>
          </a:p>
        </p:txBody>
      </p:sp>
      <p:sp>
        <p:nvSpPr>
          <p:cNvPr id="4" name="Slide Number Placeholder 3"/>
          <p:cNvSpPr>
            <a:spLocks noGrp="1"/>
          </p:cNvSpPr>
          <p:nvPr>
            <p:ph type="sldNum" sz="quarter" idx="10"/>
          </p:nvPr>
        </p:nvSpPr>
        <p:spPr/>
        <p:txBody>
          <a:bodyPr/>
          <a:lstStyle/>
          <a:p>
            <a:fld id="{28BDC400-2BB4-4D75-9C23-2A869DBE2B21}" type="slidenum">
              <a:rPr lang="en-PH" smtClean="0"/>
              <a:pPr/>
              <a:t>4</a:t>
            </a:fld>
            <a:endParaRPr lang="en-PH"/>
          </a:p>
        </p:txBody>
      </p:sp>
    </p:spTree>
    <p:extLst>
      <p:ext uri="{BB962C8B-B14F-4D97-AF65-F5344CB8AC3E}">
        <p14:creationId xmlns:p14="http://schemas.microsoft.com/office/powerpoint/2010/main" val="372321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Barcode reader support on system – is for implementation.</a:t>
            </a:r>
          </a:p>
          <a:p>
            <a:r>
              <a:rPr lang="en-US" dirty="0"/>
              <a:t>E-Commerce – is running.</a:t>
            </a:r>
          </a:p>
          <a:p>
            <a:r>
              <a:rPr lang="en-US" dirty="0"/>
              <a:t>Petty Cash – is installed primarily on the main office, and soon to be rolled out to branches.</a:t>
            </a:r>
          </a:p>
          <a:p>
            <a:r>
              <a:rPr lang="en-US" dirty="0"/>
              <a:t>Payment Text Request – is running.</a:t>
            </a:r>
          </a:p>
          <a:p>
            <a:r>
              <a:rPr lang="en-US" dirty="0"/>
              <a:t>Insurance Payment Posting  - is running.</a:t>
            </a:r>
          </a:p>
          <a:p>
            <a:r>
              <a:rPr lang="en-US" dirty="0"/>
              <a:t>Cellphone Accessories Consignment Payment – was moved to 2021 projects plans.</a:t>
            </a:r>
          </a:p>
          <a:p>
            <a:r>
              <a:rPr lang="en-US" dirty="0"/>
              <a:t>Card less G-Card (QR Code) – is in partial implementation. Area implemented is NCR.</a:t>
            </a:r>
          </a:p>
          <a:p>
            <a:r>
              <a:rPr lang="en-US" dirty="0"/>
              <a:t>Android (</a:t>
            </a:r>
            <a:r>
              <a:rPr lang="en-US" dirty="0" err="1"/>
              <a:t>IntegSys</a:t>
            </a:r>
            <a:r>
              <a:rPr lang="en-US" dirty="0"/>
              <a:t>) – is android app that contains the Online Credit Application and Cash Count.</a:t>
            </a:r>
          </a:p>
          <a:p>
            <a:r>
              <a:rPr lang="en-US" dirty="0"/>
              <a:t>Payroll Engineering – is implemented and being used on Monarch engineering</a:t>
            </a:r>
          </a:p>
          <a:p>
            <a:r>
              <a:rPr lang="en-US" dirty="0"/>
              <a:t>Approval Code (</a:t>
            </a:r>
            <a:r>
              <a:rPr lang="en-US" dirty="0" err="1"/>
              <a:t>S’Jo</a:t>
            </a:r>
            <a:r>
              <a:rPr lang="en-US" dirty="0"/>
              <a:t>, </a:t>
            </a:r>
            <a:r>
              <a:rPr lang="en-US" dirty="0" err="1"/>
              <a:t>S’Guan</a:t>
            </a:r>
            <a:r>
              <a:rPr lang="en-US" dirty="0"/>
              <a:t>, S’ Arnold) – was moved to 2021 project plans.</a:t>
            </a:r>
          </a:p>
          <a:p>
            <a:r>
              <a:rPr lang="en-US" dirty="0"/>
              <a:t>Tablet for activities, Text Reminders for Employees, Branch Authentication thru Biometrics and Text Blast Report – are being deferred.</a:t>
            </a:r>
          </a:p>
          <a:p>
            <a:r>
              <a:rPr lang="en-US" dirty="0"/>
              <a:t>Expand Rider’s Club program – wherein the mother card for the rider group earns the points and can have rewards once a year.</a:t>
            </a:r>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5</a:t>
            </a:fld>
            <a:endParaRPr lang="en-PH"/>
          </a:p>
        </p:txBody>
      </p:sp>
    </p:spTree>
    <p:extLst>
      <p:ext uri="{BB962C8B-B14F-4D97-AF65-F5344CB8AC3E}">
        <p14:creationId xmlns:p14="http://schemas.microsoft.com/office/powerpoint/2010/main" val="133528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Arial" panose="020B0604020202020204" pitchFamily="34" charset="0"/>
                <a:cs typeface="Arial" panose="020B0604020202020204" pitchFamily="34" charset="0"/>
              </a:rPr>
              <a:t>Guanzon Group will have a raffle promo wherein clients that transacts to us will earn raffle entries when they LIKED our Facebook page. All transaction with receipts/invoices will have a webpage link and will be sent to the customer’s mobile number. An auto encoder will be installed to the branch’s PCs to auto send the transaction info to our main server, the branch/client shall only wait 1-5 minutes to receive the promo link. </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6</a:t>
            </a:fld>
            <a:endParaRPr lang="en-PH"/>
          </a:p>
        </p:txBody>
      </p:sp>
    </p:spTree>
    <p:extLst>
      <p:ext uri="{BB962C8B-B14F-4D97-AF65-F5344CB8AC3E}">
        <p14:creationId xmlns:p14="http://schemas.microsoft.com/office/powerpoint/2010/main" val="2074646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Notification/Messaging – our app user will support receiving notifications from us whether it is greetings, reminders, promotions, etc.</a:t>
            </a:r>
          </a:p>
          <a:p>
            <a:r>
              <a:rPr lang="en-US" dirty="0"/>
              <a:t>Service Hotline – our app will not only receive notifications from us, the app user can also send us inquiries, follow ups or complaints.</a:t>
            </a:r>
          </a:p>
          <a:p>
            <a:r>
              <a:rPr lang="en-US" dirty="0"/>
              <a:t>Parts/Unit Ordering – the app user can now order parts/units using our Guanzon App.</a:t>
            </a:r>
          </a:p>
          <a:p>
            <a:r>
              <a:rPr lang="en-US" dirty="0"/>
              <a:t>Pre-term computation – our app will also support pre-term computation.</a:t>
            </a:r>
          </a:p>
          <a:p>
            <a:r>
              <a:rPr lang="en-US" dirty="0"/>
              <a:t>Service Scheduling – our customers can set an appointment to our stores for service of their units.</a:t>
            </a:r>
          </a:p>
          <a:p>
            <a:r>
              <a:rPr lang="en-US" dirty="0"/>
              <a:t>Online Credit Application, Online Employment Application – to link our app on the webpage of this 2.</a:t>
            </a:r>
          </a:p>
        </p:txBody>
      </p:sp>
      <p:sp>
        <p:nvSpPr>
          <p:cNvPr id="4" name="Slide Number Placeholder 3"/>
          <p:cNvSpPr>
            <a:spLocks noGrp="1"/>
          </p:cNvSpPr>
          <p:nvPr>
            <p:ph type="sldNum" sz="quarter" idx="10"/>
          </p:nvPr>
        </p:nvSpPr>
        <p:spPr/>
        <p:txBody>
          <a:bodyPr/>
          <a:lstStyle/>
          <a:p>
            <a:fld id="{28BDC400-2BB4-4D75-9C23-2A869DBE2B21}" type="slidenum">
              <a:rPr lang="en-PH" smtClean="0"/>
              <a:pPr/>
              <a:t>7</a:t>
            </a:fld>
            <a:endParaRPr lang="en-PH"/>
          </a:p>
        </p:txBody>
      </p:sp>
    </p:spTree>
    <p:extLst>
      <p:ext uri="{BB962C8B-B14F-4D97-AF65-F5344CB8AC3E}">
        <p14:creationId xmlns:p14="http://schemas.microsoft.com/office/powerpoint/2010/main" val="833553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DCP – is an feature for collectors wherein he will have the list of for collections for the day and can now encode the payment information or status on the app. This also supports taking pictures for the customers to prove that he visits them. Photo capture will be partnered with capturing of coordinates to be saved on our database that can be used as his time in or time out.</a:t>
            </a:r>
          </a:p>
          <a:p>
            <a:r>
              <a:rPr lang="en-US" dirty="0"/>
              <a:t>Credit Investigation – CI applications can now be downloaded to the CI’s app and can view or update it when he visits the applicant. This will also support the taking of photos with coordinates capturing just line the DCP.</a:t>
            </a:r>
          </a:p>
          <a:p>
            <a:r>
              <a:rPr lang="en-US" dirty="0"/>
              <a:t>Online Credit Application – this module is existing, we will add document scanning feature and applicant photo capture</a:t>
            </a:r>
          </a:p>
          <a:p>
            <a:r>
              <a:rPr lang="en-US" dirty="0"/>
              <a:t>Payroll, Employee and Timekeeper Manager</a:t>
            </a:r>
          </a:p>
          <a:p>
            <a:r>
              <a:rPr lang="en-US" dirty="0"/>
              <a:t>      Selfie login – taking photos to login usually used by personnel that are always on field</a:t>
            </a:r>
          </a:p>
          <a:p>
            <a:r>
              <a:rPr lang="en-US" dirty="0"/>
              <a:t>      Leave, OB, </a:t>
            </a:r>
            <a:r>
              <a:rPr lang="en-US" dirty="0" err="1"/>
              <a:t>etc</a:t>
            </a:r>
            <a:r>
              <a:rPr lang="en-US" dirty="0"/>
              <a:t> – managers and supervisors can now apply their leave, business trips and other payroll related applications on the phone.</a:t>
            </a:r>
          </a:p>
          <a:p>
            <a:r>
              <a:rPr lang="en-US" dirty="0"/>
              <a:t>      Attendance summary notification – 2 days after cutoff our system will send notification to our employee that have there Guanzon app regarding their attendance summary for the last payroll cut off.</a:t>
            </a:r>
          </a:p>
          <a:p>
            <a:r>
              <a:rPr lang="en-US" dirty="0"/>
              <a:t>AH Monitoring – AH accounts will have this features</a:t>
            </a:r>
          </a:p>
          <a:p>
            <a:r>
              <a:rPr lang="en-US" dirty="0"/>
              <a:t>Notifications/Messaging – reminders, info blast for employees</a:t>
            </a:r>
          </a:p>
        </p:txBody>
      </p:sp>
      <p:sp>
        <p:nvSpPr>
          <p:cNvPr id="4" name="Slide Number Placeholder 3"/>
          <p:cNvSpPr>
            <a:spLocks noGrp="1"/>
          </p:cNvSpPr>
          <p:nvPr>
            <p:ph type="sldNum" sz="quarter" idx="10"/>
          </p:nvPr>
        </p:nvSpPr>
        <p:spPr/>
        <p:txBody>
          <a:bodyPr/>
          <a:lstStyle/>
          <a:p>
            <a:fld id="{28BDC400-2BB4-4D75-9C23-2A869DBE2B21}" type="slidenum">
              <a:rPr lang="en-PH" smtClean="0"/>
              <a:pPr/>
              <a:t>8</a:t>
            </a:fld>
            <a:endParaRPr lang="en-PH"/>
          </a:p>
        </p:txBody>
      </p:sp>
    </p:spTree>
    <p:extLst>
      <p:ext uri="{BB962C8B-B14F-4D97-AF65-F5344CB8AC3E}">
        <p14:creationId xmlns:p14="http://schemas.microsoft.com/office/powerpoint/2010/main" val="2853721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Los </a:t>
            </a:r>
            <a:r>
              <a:rPr lang="en-US" dirty="0" err="1"/>
              <a:t>Pedritos</a:t>
            </a:r>
            <a:r>
              <a:rPr lang="en-US" dirty="0"/>
              <a:t> Integrated Systems – which will have the purchasing, inventory systems and management reports generation.</a:t>
            </a:r>
          </a:p>
          <a:p>
            <a:r>
              <a:rPr lang="en-US" dirty="0"/>
              <a:t>Engineering Inventory Management System – aside from purchasing system, we will also implement the inventory system for engineering.</a:t>
            </a:r>
          </a:p>
          <a:p>
            <a:r>
              <a:rPr lang="en-US" dirty="0"/>
              <a:t>2H MC Pricelist – 2H price discounting based on Market Demand, Mileage, </a:t>
            </a:r>
            <a:r>
              <a:rPr lang="en-US" dirty="0" err="1"/>
              <a:t>Apprearance</a:t>
            </a:r>
            <a:r>
              <a:rPr lang="en-US" dirty="0"/>
              <a:t>.</a:t>
            </a:r>
          </a:p>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9</a:t>
            </a:fld>
            <a:endParaRPr lang="en-PH"/>
          </a:p>
        </p:txBody>
      </p:sp>
    </p:spTree>
    <p:extLst>
      <p:ext uri="{BB962C8B-B14F-4D97-AF65-F5344CB8AC3E}">
        <p14:creationId xmlns:p14="http://schemas.microsoft.com/office/powerpoint/2010/main" val="2105516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8BDC400-2BB4-4D75-9C23-2A869DBE2B21}" type="slidenum">
              <a:rPr lang="en-PH" smtClean="0"/>
              <a:pPr/>
              <a:t>10</a:t>
            </a:fld>
            <a:endParaRPr lang="en-PH"/>
          </a:p>
        </p:txBody>
      </p:sp>
    </p:spTree>
    <p:extLst>
      <p:ext uri="{BB962C8B-B14F-4D97-AF65-F5344CB8AC3E}">
        <p14:creationId xmlns:p14="http://schemas.microsoft.com/office/powerpoint/2010/main" val="3495094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4283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9810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9076898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4016254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46362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2955531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854776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5736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1224872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3733182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254A3-CA93-4ED2-8531-7F94B29CAD94}" type="datetimeFigureOut">
              <a:rPr lang="en-PH" smtClean="0"/>
              <a:pPr/>
              <a:t>10/12/2020</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E09CE2B4-5905-476D-A26A-30AF6E7624E9}" type="slidenum">
              <a:rPr lang="en-PH" smtClean="0"/>
              <a:pPr/>
              <a:t>‹#›</a:t>
            </a:fld>
            <a:endParaRPr lang="en-PH"/>
          </a:p>
        </p:txBody>
      </p:sp>
    </p:spTree>
    <p:extLst>
      <p:ext uri="{BB962C8B-B14F-4D97-AF65-F5344CB8AC3E}">
        <p14:creationId xmlns:p14="http://schemas.microsoft.com/office/powerpoint/2010/main" val="795515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B254A3-CA93-4ED2-8531-7F94B29CAD94}" type="datetimeFigureOut">
              <a:rPr lang="en-PH" smtClean="0"/>
              <a:pPr/>
              <a:t>10/12/2020</a:t>
            </a:fld>
            <a:endParaRPr lang="en-PH"/>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9CE2B4-5905-476D-A26A-30AF6E7624E9}" type="slidenum">
              <a:rPr lang="en-PH" smtClean="0"/>
              <a:pPr/>
              <a:t>‹#›</a:t>
            </a:fld>
            <a:endParaRPr lang="en-PH"/>
          </a:p>
        </p:txBody>
      </p:sp>
    </p:spTree>
    <p:extLst>
      <p:ext uri="{BB962C8B-B14F-4D97-AF65-F5344CB8AC3E}">
        <p14:creationId xmlns:p14="http://schemas.microsoft.com/office/powerpoint/2010/main" val="3045105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chart" Target="../charts/chart4.xml"/><Relationship Id="rId7"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7" Type="http://schemas.openxmlformats.org/officeDocument/2006/relationships/slide" Target="slide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7" Type="http://schemas.openxmlformats.org/officeDocument/2006/relationships/slide" Target="slide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chart" Target="../charts/chart7.xml"/><Relationship Id="rId7" Type="http://schemas.openxmlformats.org/officeDocument/2006/relationships/slide" Target="slide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7" Type="http://schemas.openxmlformats.org/officeDocument/2006/relationships/slide" Target="slide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0"/>
            <a:ext cx="12192000" cy="6858000"/>
          </a:xfrm>
          <a:prstGeom prst="rect">
            <a:avLst/>
          </a:prstGeom>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533" y="390459"/>
            <a:ext cx="8523430" cy="1326936"/>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08552" y="0"/>
            <a:ext cx="5759449" cy="6858000"/>
          </a:xfrm>
          <a:prstGeom prst="rect">
            <a:avLst/>
          </a:prstGeom>
        </p:spPr>
      </p:pic>
    </p:spTree>
    <p:extLst>
      <p:ext uri="{BB962C8B-B14F-4D97-AF65-F5344CB8AC3E}">
        <p14:creationId xmlns:p14="http://schemas.microsoft.com/office/powerpoint/2010/main" val="2999953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1000" fill="hold"/>
                                        <p:tgtEl>
                                          <p:spTgt spid="9"/>
                                        </p:tgtEl>
                                        <p:attrNameLst>
                                          <p:attrName>ppt_x</p:attrName>
                                        </p:attrNameLst>
                                      </p:cBhvr>
                                      <p:tavLst>
                                        <p:tav tm="0">
                                          <p:val>
                                            <p:strVal val="1+#ppt_w/2"/>
                                          </p:val>
                                        </p:tav>
                                        <p:tav tm="100000">
                                          <p:val>
                                            <p:strVal val="#ppt_x"/>
                                          </p:val>
                                        </p:tav>
                                      </p:tavLst>
                                    </p:anim>
                                    <p:anim calcmode="lin" valueType="num">
                                      <p:cBhvr additive="base">
                                        <p:cTn id="17" dur="1000" fill="hold"/>
                                        <p:tgtEl>
                                          <p:spTgt spid="9"/>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10" presetClass="exit" presetSubtype="0" fill="hold" nodeType="afterEffect">
                                  <p:stCondLst>
                                    <p:cond delay="0"/>
                                  </p:stCondLst>
                                  <p:childTnLst>
                                    <p:animEffect transition="out" filter="fade">
                                      <p:cBhvr>
                                        <p:cTn id="20" dur="500"/>
                                        <p:tgtEl>
                                          <p:spTgt spid="9"/>
                                        </p:tgtEl>
                                      </p:cBhvr>
                                    </p:animEffect>
                                    <p:set>
                                      <p:cBhvr>
                                        <p:cTn id="21" dur="1" fill="hold">
                                          <p:stCondLst>
                                            <p:cond delay="499"/>
                                          </p:stCondLst>
                                        </p:cTn>
                                        <p:tgtEl>
                                          <p:spTgt spid="9"/>
                                        </p:tgtEl>
                                        <p:attrNameLst>
                                          <p:attrName>style.visibility</p:attrName>
                                        </p:attrNameLst>
                                      </p:cBhvr>
                                      <p:to>
                                        <p:strVal val="hidden"/>
                                      </p:to>
                                    </p:set>
                                  </p:childTnLst>
                                </p:cTn>
                              </p:par>
                            </p:childTnLst>
                          </p:cTn>
                        </p:par>
                        <p:par>
                          <p:cTn id="22" fill="hold">
                            <p:stCondLst>
                              <p:cond delay="2000"/>
                            </p:stCondLst>
                            <p:childTnLst>
                              <p:par>
                                <p:cTn id="23" presetID="2" presetClass="exit" presetSubtype="4" fill="hold" nodeType="afterEffect">
                                  <p:stCondLst>
                                    <p:cond delay="0"/>
                                  </p:stCondLst>
                                  <p:childTnLst>
                                    <p:anim calcmode="lin" valueType="num">
                                      <p:cBhvr additive="base">
                                        <p:cTn id="24" dur="500"/>
                                        <p:tgtEl>
                                          <p:spTgt spid="6"/>
                                        </p:tgtEl>
                                        <p:attrNameLst>
                                          <p:attrName>ppt_x</p:attrName>
                                        </p:attrNameLst>
                                      </p:cBhvr>
                                      <p:tavLst>
                                        <p:tav tm="0">
                                          <p:val>
                                            <p:strVal val="ppt_x"/>
                                          </p:val>
                                        </p:tav>
                                        <p:tav tm="100000">
                                          <p:val>
                                            <p:strVal val="ppt_x"/>
                                          </p:val>
                                        </p:tav>
                                      </p:tavLst>
                                    </p:anim>
                                    <p:anim calcmode="lin" valueType="num">
                                      <p:cBhvr additive="base">
                                        <p:cTn id="25" dur="500"/>
                                        <p:tgtEl>
                                          <p:spTgt spid="6"/>
                                        </p:tgtEl>
                                        <p:attrNameLst>
                                          <p:attrName>ppt_y</p:attrName>
                                        </p:attrNameLst>
                                      </p:cBhvr>
                                      <p:tavLst>
                                        <p:tav tm="0">
                                          <p:val>
                                            <p:strVal val="ppt_y"/>
                                          </p:val>
                                        </p:tav>
                                        <p:tav tm="100000">
                                          <p:val>
                                            <p:strVal val="1+ppt_h/2"/>
                                          </p:val>
                                        </p:tav>
                                      </p:tavLst>
                                    </p:anim>
                                    <p:set>
                                      <p:cBhvr>
                                        <p:cTn id="26" dur="1" fill="hold">
                                          <p:stCondLst>
                                            <p:cond delay="499"/>
                                          </p:stCondLst>
                                        </p:cTn>
                                        <p:tgtEl>
                                          <p:spTgt spid="6"/>
                                        </p:tgtEl>
                                        <p:attrNameLst>
                                          <p:attrName>style.visibility</p:attrName>
                                        </p:attrNameLst>
                                      </p:cBhvr>
                                      <p:to>
                                        <p:strVal val="hidden"/>
                                      </p:to>
                                    </p:set>
                                  </p:childTnLst>
                                </p:cTn>
                              </p:par>
                              <p:par>
                                <p:cTn id="27" presetID="2" presetClass="exit" presetSubtype="8" fill="hold" nodeType="withEffect">
                                  <p:stCondLst>
                                    <p:cond delay="0"/>
                                  </p:stCondLst>
                                  <p:childTnLst>
                                    <p:anim calcmode="lin" valueType="num">
                                      <p:cBhvr additive="base">
                                        <p:cTn id="28" dur="500"/>
                                        <p:tgtEl>
                                          <p:spTgt spid="8"/>
                                        </p:tgtEl>
                                        <p:attrNameLst>
                                          <p:attrName>ppt_x</p:attrName>
                                        </p:attrNameLst>
                                      </p:cBhvr>
                                      <p:tavLst>
                                        <p:tav tm="0">
                                          <p:val>
                                            <p:strVal val="ppt_x"/>
                                          </p:val>
                                        </p:tav>
                                        <p:tav tm="100000">
                                          <p:val>
                                            <p:strVal val="0-ppt_w/2"/>
                                          </p:val>
                                        </p:tav>
                                      </p:tavLst>
                                    </p:anim>
                                    <p:anim calcmode="lin" valueType="num">
                                      <p:cBhvr additive="base">
                                        <p:cTn id="29" dur="500"/>
                                        <p:tgtEl>
                                          <p:spTgt spid="8"/>
                                        </p:tgtEl>
                                        <p:attrNameLst>
                                          <p:attrName>ppt_y</p:attrName>
                                        </p:attrNameLst>
                                      </p:cBhvr>
                                      <p:tavLst>
                                        <p:tav tm="0">
                                          <p:val>
                                            <p:strVal val="ppt_y"/>
                                          </p:val>
                                        </p:tav>
                                        <p:tav tm="100000">
                                          <p:val>
                                            <p:strVal val="ppt_y"/>
                                          </p:val>
                                        </p:tav>
                                      </p:tavLst>
                                    </p:anim>
                                    <p:set>
                                      <p:cBhvr>
                                        <p:cTn id="30"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C6A66"/>
        </a:solidFill>
        <a:effectLst/>
      </p:bgPr>
    </p:bg>
    <p:spTree>
      <p:nvGrpSpPr>
        <p:cNvPr id="1" name=""/>
        <p:cNvGrpSpPr/>
        <p:nvPr/>
      </p:nvGrpSpPr>
      <p:grpSpPr>
        <a:xfrm>
          <a:off x="0" y="0"/>
          <a:ext cx="0" cy="0"/>
          <a:chOff x="0" y="0"/>
          <a:chExt cx="0" cy="0"/>
        </a:xfrm>
      </p:grpSpPr>
      <p:sp>
        <p:nvSpPr>
          <p:cNvPr id="3" name="TextBox 2"/>
          <p:cNvSpPr txBox="1"/>
          <p:nvPr/>
        </p:nvSpPr>
        <p:spPr>
          <a:xfrm>
            <a:off x="800100" y="3095625"/>
            <a:ext cx="7534275" cy="830997"/>
          </a:xfrm>
          <a:prstGeom prst="rect">
            <a:avLst/>
          </a:prstGeom>
          <a:noFill/>
        </p:spPr>
        <p:txBody>
          <a:bodyPr wrap="square" rtlCol="0">
            <a:spAutoFit/>
          </a:bodyPr>
          <a:lstStyle/>
          <a:p>
            <a:pPr algn="ctr"/>
            <a:r>
              <a:rPr lang="en-US" sz="4800" dirty="0">
                <a:solidFill>
                  <a:srgbClr val="F68D2E"/>
                </a:solidFill>
                <a:latin typeface="Adobe Gothic Std B" panose="020B0800000000000000" pitchFamily="34" charset="-128"/>
                <a:ea typeface="Adobe Gothic Std B" panose="020B0800000000000000" pitchFamily="34" charset="-128"/>
              </a:rPr>
              <a:t>MIS</a:t>
            </a:r>
          </a:p>
        </p:txBody>
      </p:sp>
      <p:sp>
        <p:nvSpPr>
          <p:cNvPr id="4" name="Rectangle 3"/>
          <p:cNvSpPr/>
          <p:nvPr/>
        </p:nvSpPr>
        <p:spPr>
          <a:xfrm>
            <a:off x="775855" y="2655241"/>
            <a:ext cx="7592290" cy="1689368"/>
          </a:xfrm>
          <a:prstGeom prst="rect">
            <a:avLst/>
          </a:prstGeom>
          <a:noFill/>
          <a:ln w="12700">
            <a:solidFill>
              <a:srgbClr val="FF98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H"/>
          </a:p>
        </p:txBody>
      </p:sp>
    </p:spTree>
    <p:extLst>
      <p:ext uri="{BB962C8B-B14F-4D97-AF65-F5344CB8AC3E}">
        <p14:creationId xmlns:p14="http://schemas.microsoft.com/office/powerpoint/2010/main" val="862273399"/>
      </p:ext>
    </p:extLst>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hart 7"/>
          <p:cNvGraphicFramePr/>
          <p:nvPr>
            <p:extLst>
              <p:ext uri="{D42A27DB-BD31-4B8C-83A1-F6EECF244321}">
                <p14:modId xmlns:p14="http://schemas.microsoft.com/office/powerpoint/2010/main" val="836298769"/>
              </p:ext>
            </p:extLst>
          </p:nvPr>
        </p:nvGraphicFramePr>
        <p:xfrm>
          <a:off x="3155" y="450740"/>
          <a:ext cx="9126122" cy="6012910"/>
        </p:xfrm>
        <a:graphic>
          <a:graphicData uri="http://schemas.openxmlformats.org/drawingml/2006/chart">
            <c:chart xmlns:c="http://schemas.openxmlformats.org/drawingml/2006/chart" xmlns:r="http://schemas.openxmlformats.org/officeDocument/2006/relationships" r:id="rId3"/>
          </a:graphicData>
        </a:graphic>
      </p:graphicFrame>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69266"/>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244963" y="26176"/>
            <a:ext cx="2930037" cy="553998"/>
          </a:xfrm>
          <a:prstGeom prst="rect">
            <a:avLst/>
          </a:prstGeom>
          <a:noFill/>
        </p:spPr>
        <p:txBody>
          <a:bodyPr wrap="square" rtlCol="0">
            <a:spAutoFit/>
          </a:bodyPr>
          <a:lstStyle/>
          <a:p>
            <a:pPr algn="just"/>
            <a:r>
              <a:rPr lang="en-US" sz="3000" dirty="0">
                <a:solidFill>
                  <a:schemeClr val="bg1"/>
                </a:solidFill>
                <a:latin typeface="Adobe Fan Heiti Std B" panose="020B0700000000000000" pitchFamily="34" charset="-128"/>
                <a:ea typeface="Adobe Fan Heiti Std B" panose="020B0700000000000000" pitchFamily="34" charset="-128"/>
              </a:rPr>
              <a:t>MIS</a:t>
            </a:r>
          </a:p>
        </p:txBody>
      </p:sp>
      <p:sp>
        <p:nvSpPr>
          <p:cNvPr id="20" name="Rectangle 19"/>
          <p:cNvSpPr/>
          <p:nvPr/>
        </p:nvSpPr>
        <p:spPr>
          <a:xfrm>
            <a:off x="2090359" y="1649051"/>
            <a:ext cx="4209486"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4400" b="1" dirty="0">
                <a:ln w="9525">
                  <a:solidFill>
                    <a:schemeClr val="tx1"/>
                  </a:solidFill>
                  <a:prstDash val="solid"/>
                </a:ln>
                <a:effectLst>
                  <a:outerShdw blurRad="12700" dist="38100" dir="2700000" algn="tl" rotWithShape="0">
                    <a:schemeClr val="bg1">
                      <a:lumMod val="50000"/>
                    </a:schemeClr>
                  </a:outerShdw>
                </a:effectLst>
              </a:rPr>
              <a:t>Hardware Report</a:t>
            </a:r>
          </a:p>
        </p:txBody>
      </p:sp>
      <p:pic>
        <p:nvPicPr>
          <p:cNvPr id="21" name="Picture 2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7234" y="1512563"/>
            <a:ext cx="1042416" cy="1042416"/>
          </a:xfrm>
          <a:prstGeom prst="rect">
            <a:avLst/>
          </a:prstGeom>
        </p:spPr>
      </p:pic>
      <p:pic>
        <p:nvPicPr>
          <p:cNvPr id="37" name="Picture 3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21106" y="0"/>
            <a:ext cx="3704770" cy="571592"/>
          </a:xfrm>
          <a:prstGeom prst="rect">
            <a:avLst/>
          </a:prstGeom>
        </p:spPr>
      </p:pic>
      <p:sp>
        <p:nvSpPr>
          <p:cNvPr id="38" name="TextBox 37"/>
          <p:cNvSpPr txBox="1"/>
          <p:nvPr/>
        </p:nvSpPr>
        <p:spPr>
          <a:xfrm>
            <a:off x="92323" y="77211"/>
            <a:ext cx="2930037" cy="892552"/>
          </a:xfrm>
          <a:prstGeom prst="rect">
            <a:avLst/>
          </a:prstGeom>
          <a:noFill/>
        </p:spPr>
        <p:txBody>
          <a:bodyPr wrap="square" rtlCol="0">
            <a:spAutoFit/>
          </a:bodyPr>
          <a:lstStyle/>
          <a:p>
            <a:pPr algn="just"/>
            <a:r>
              <a:rPr lang="en-US" sz="2200" dirty="0">
                <a:solidFill>
                  <a:schemeClr val="bg1"/>
                </a:solidFill>
                <a:latin typeface="Adobe Fan Heiti Std B" panose="020B0700000000000000" pitchFamily="34" charset="-128"/>
                <a:ea typeface="Adobe Fan Heiti Std B" panose="020B0700000000000000" pitchFamily="34" charset="-128"/>
              </a:rPr>
              <a:t>MIS</a:t>
            </a:r>
          </a:p>
          <a:p>
            <a:pPr algn="just"/>
            <a:endParaRPr lang="en-US" sz="3000" dirty="0">
              <a:solidFill>
                <a:schemeClr val="bg1"/>
              </a:solidFill>
              <a:latin typeface="Adobe Fan Heiti Std B" panose="020B0700000000000000" pitchFamily="34" charset="-128"/>
              <a:ea typeface="Adobe Fan Heiti Std B" panose="020B0700000000000000" pitchFamily="34" charset="-128"/>
            </a:endParaRPr>
          </a:p>
        </p:txBody>
      </p:sp>
      <p:sp>
        <p:nvSpPr>
          <p:cNvPr id="16" name="Action Button: Forward or Next 11">
            <a:hlinkClick r:id="" action="ppaction://hlinkshowjump?jump=nextslide" highlightClick="1"/>
            <a:extLst>
              <a:ext uri="{FF2B5EF4-FFF2-40B4-BE49-F238E27FC236}">
                <a16:creationId xmlns:a16="http://schemas.microsoft.com/office/drawing/2014/main" id="{4EDEA5BD-5922-424C-90F2-16E436FD1C42}"/>
              </a:ext>
            </a:extLst>
          </p:cNvPr>
          <p:cNvSpPr/>
          <p:nvPr/>
        </p:nvSpPr>
        <p:spPr>
          <a:xfrm>
            <a:off x="103951" y="6126999"/>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E4CC9BF-B753-43B5-825C-B329490E2773}"/>
              </a:ext>
            </a:extLst>
          </p:cNvPr>
          <p:cNvSpPr/>
          <p:nvPr/>
        </p:nvSpPr>
        <p:spPr>
          <a:xfrm>
            <a:off x="2090359" y="4120390"/>
            <a:ext cx="2698175"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4400" b="1" dirty="0">
                <a:ln w="9525">
                  <a:solidFill>
                    <a:schemeClr val="tx1"/>
                  </a:solidFill>
                  <a:prstDash val="solid"/>
                </a:ln>
                <a:effectLst>
                  <a:outerShdw blurRad="12700" dist="38100" dir="2700000" algn="tl" rotWithShape="0">
                    <a:schemeClr val="bg1">
                      <a:lumMod val="50000"/>
                    </a:schemeClr>
                  </a:outerShdw>
                </a:effectLst>
              </a:rPr>
              <a:t>2021 Plans</a:t>
            </a:r>
          </a:p>
        </p:txBody>
      </p:sp>
      <p:pic>
        <p:nvPicPr>
          <p:cNvPr id="14" name="Picture 13">
            <a:extLst>
              <a:ext uri="{FF2B5EF4-FFF2-40B4-BE49-F238E27FC236}">
                <a16:creationId xmlns:a16="http://schemas.microsoft.com/office/drawing/2014/main" id="{B16B0B9A-B932-4B3A-A006-5E5EB544787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88863" y="3983903"/>
            <a:ext cx="1042416" cy="1042416"/>
          </a:xfrm>
          <a:prstGeom prst="rect">
            <a:avLst/>
          </a:prstGeom>
        </p:spPr>
      </p:pic>
    </p:spTree>
    <p:extLst>
      <p:ext uri="{BB962C8B-B14F-4D97-AF65-F5344CB8AC3E}">
        <p14:creationId xmlns:p14="http://schemas.microsoft.com/office/powerpoint/2010/main" val="3624561942"/>
      </p:ext>
    </p:extLst>
  </p:cSld>
  <p:clrMapOvr>
    <a:masterClrMapping/>
  </p:clrMapOvr>
  <mc:AlternateContent xmlns:mc="http://schemas.openxmlformats.org/markup-compatibility/2006" xmlns:p14="http://schemas.microsoft.com/office/powerpoint/2010/main">
    <mc:Choice Requires="p14">
      <p:transition spd="med" p14:dur="700" advClick="0">
        <p:fade/>
      </p:transition>
    </mc:Choice>
    <mc:Fallback xmlns="">
      <p:transition spd="med"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1000" fill="hold"/>
                                        <p:tgtEl>
                                          <p:spTgt spid="21"/>
                                        </p:tgtEl>
                                        <p:attrNameLst>
                                          <p:attrName>ppt_w</p:attrName>
                                        </p:attrNameLst>
                                      </p:cBhvr>
                                      <p:tavLst>
                                        <p:tav tm="0">
                                          <p:val>
                                            <p:fltVal val="0"/>
                                          </p:val>
                                        </p:tav>
                                        <p:tav tm="100000">
                                          <p:val>
                                            <p:strVal val="#ppt_w"/>
                                          </p:val>
                                        </p:tav>
                                      </p:tavLst>
                                    </p:anim>
                                    <p:anim calcmode="lin" valueType="num">
                                      <p:cBhvr>
                                        <p:cTn id="8" dur="1000" fill="hold"/>
                                        <p:tgtEl>
                                          <p:spTgt spid="21"/>
                                        </p:tgtEl>
                                        <p:attrNameLst>
                                          <p:attrName>ppt_h</p:attrName>
                                        </p:attrNameLst>
                                      </p:cBhvr>
                                      <p:tavLst>
                                        <p:tav tm="0">
                                          <p:val>
                                            <p:fltVal val="0"/>
                                          </p:val>
                                        </p:tav>
                                        <p:tav tm="100000">
                                          <p:val>
                                            <p:strVal val="#ppt_h"/>
                                          </p:val>
                                        </p:tav>
                                      </p:tavLst>
                                    </p:anim>
                                    <p:anim calcmode="lin" valueType="num">
                                      <p:cBhvr>
                                        <p:cTn id="9" dur="1000" fill="hold"/>
                                        <p:tgtEl>
                                          <p:spTgt spid="21"/>
                                        </p:tgtEl>
                                        <p:attrNameLst>
                                          <p:attrName>style.rotation</p:attrName>
                                        </p:attrNameLst>
                                      </p:cBhvr>
                                      <p:tavLst>
                                        <p:tav tm="0">
                                          <p:val>
                                            <p:fltVal val="90"/>
                                          </p:val>
                                        </p:tav>
                                        <p:tav tm="100000">
                                          <p:val>
                                            <p:fltVal val="0"/>
                                          </p:val>
                                        </p:tav>
                                      </p:tavLst>
                                    </p:anim>
                                    <p:animEffect transition="in" filter="fade">
                                      <p:cBhvr>
                                        <p:cTn id="10" dur="10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1000" fill="hold"/>
                                        <p:tgtEl>
                                          <p:spTgt spid="14"/>
                                        </p:tgtEl>
                                        <p:attrNameLst>
                                          <p:attrName>ppt_w</p:attrName>
                                        </p:attrNameLst>
                                      </p:cBhvr>
                                      <p:tavLst>
                                        <p:tav tm="0">
                                          <p:val>
                                            <p:fltVal val="0"/>
                                          </p:val>
                                        </p:tav>
                                        <p:tav tm="100000">
                                          <p:val>
                                            <p:strVal val="#ppt_w"/>
                                          </p:val>
                                        </p:tav>
                                      </p:tavLst>
                                    </p:anim>
                                    <p:anim calcmode="lin" valueType="num">
                                      <p:cBhvr>
                                        <p:cTn id="18" dur="1000" fill="hold"/>
                                        <p:tgtEl>
                                          <p:spTgt spid="14"/>
                                        </p:tgtEl>
                                        <p:attrNameLst>
                                          <p:attrName>ppt_h</p:attrName>
                                        </p:attrNameLst>
                                      </p:cBhvr>
                                      <p:tavLst>
                                        <p:tav tm="0">
                                          <p:val>
                                            <p:fltVal val="0"/>
                                          </p:val>
                                        </p:tav>
                                        <p:tav tm="100000">
                                          <p:val>
                                            <p:strVal val="#ppt_h"/>
                                          </p:val>
                                        </p:tav>
                                      </p:tavLst>
                                    </p:anim>
                                    <p:anim calcmode="lin" valueType="num">
                                      <p:cBhvr>
                                        <p:cTn id="19" dur="1000" fill="hold"/>
                                        <p:tgtEl>
                                          <p:spTgt spid="14"/>
                                        </p:tgtEl>
                                        <p:attrNameLst>
                                          <p:attrName>style.rotation</p:attrName>
                                        </p:attrNameLst>
                                      </p:cBhvr>
                                      <p:tavLst>
                                        <p:tav tm="0">
                                          <p:val>
                                            <p:fltVal val="90"/>
                                          </p:val>
                                        </p:tav>
                                        <p:tav tm="100000">
                                          <p:val>
                                            <p:fltVal val="0"/>
                                          </p:val>
                                        </p:tav>
                                      </p:tavLst>
                                    </p:anim>
                                    <p:animEffect transition="in" filter="fade">
                                      <p:cBhvr>
                                        <p:cTn id="20" dur="10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127743819"/>
              </p:ext>
            </p:extLst>
          </p:nvPr>
        </p:nvGraphicFramePr>
        <p:xfrm>
          <a:off x="3842" y="553998"/>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err="1">
                <a:solidFill>
                  <a:schemeClr val="bg1"/>
                </a:solidFill>
                <a:latin typeface="Arial Black" panose="020B0A04020102020204" pitchFamily="34" charset="0"/>
                <a:ea typeface="Adobe Fan Heiti Std B" panose="020B0700000000000000" pitchFamily="34" charset="-128"/>
              </a:rPr>
              <a:t>Harware</a:t>
            </a:r>
            <a:r>
              <a:rPr lang="en-US" dirty="0">
                <a:solidFill>
                  <a:schemeClr val="bg1"/>
                </a:solidFill>
                <a:latin typeface="Arial Black" panose="020B0A04020102020204" pitchFamily="34" charset="0"/>
                <a:ea typeface="Adobe Fan Heiti Std B" panose="020B0700000000000000" pitchFamily="34" charset="-128"/>
              </a:rPr>
              <a:t> Report</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graphicFrame>
        <p:nvGraphicFramePr>
          <p:cNvPr id="13" name="Table 13">
            <a:extLst>
              <a:ext uri="{FF2B5EF4-FFF2-40B4-BE49-F238E27FC236}">
                <a16:creationId xmlns:a16="http://schemas.microsoft.com/office/drawing/2014/main" id="{389E7215-D022-4D85-AEC0-5FFB6C0835A9}"/>
              </a:ext>
            </a:extLst>
          </p:cNvPr>
          <p:cNvGraphicFramePr>
            <a:graphicFrameLocks noGrp="1"/>
          </p:cNvGraphicFramePr>
          <p:nvPr>
            <p:extLst>
              <p:ext uri="{D42A27DB-BD31-4B8C-83A1-F6EECF244321}">
                <p14:modId xmlns:p14="http://schemas.microsoft.com/office/powerpoint/2010/main" val="2508598851"/>
              </p:ext>
            </p:extLst>
          </p:nvPr>
        </p:nvGraphicFramePr>
        <p:xfrm>
          <a:off x="1524000" y="1210566"/>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78916606"/>
                    </a:ext>
                  </a:extLst>
                </a:gridCol>
                <a:gridCol w="3048000">
                  <a:extLst>
                    <a:ext uri="{9D8B030D-6E8A-4147-A177-3AD203B41FA5}">
                      <a16:colId xmlns:a16="http://schemas.microsoft.com/office/drawing/2014/main" val="3457808209"/>
                    </a:ext>
                  </a:extLst>
                </a:gridCol>
              </a:tblGrid>
              <a:tr h="370840">
                <a:tc gridSpan="2">
                  <a:txBody>
                    <a:bodyPr/>
                    <a:lstStyle/>
                    <a:p>
                      <a:pPr algn="ctr"/>
                      <a:r>
                        <a:rPr lang="en-US" dirty="0"/>
                        <a:t>CCTV Monitoring per Branch</a:t>
                      </a:r>
                    </a:p>
                  </a:txBody>
                  <a:tcPr/>
                </a:tc>
                <a:tc hMerge="1">
                  <a:txBody>
                    <a:bodyPr/>
                    <a:lstStyle/>
                    <a:p>
                      <a:endParaRPr lang="en-US" dirty="0"/>
                    </a:p>
                  </a:txBody>
                  <a:tcPr/>
                </a:tc>
                <a:extLst>
                  <a:ext uri="{0D108BD9-81ED-4DB2-BD59-A6C34878D82A}">
                    <a16:rowId xmlns:a16="http://schemas.microsoft.com/office/drawing/2014/main" val="350171477"/>
                  </a:ext>
                </a:extLst>
              </a:tr>
              <a:tr h="370840">
                <a:tc>
                  <a:txBody>
                    <a:bodyPr/>
                    <a:lstStyle/>
                    <a:p>
                      <a:pPr algn="ctr"/>
                      <a:r>
                        <a:rPr lang="en-US" dirty="0"/>
                        <a:t>ONLINE</a:t>
                      </a:r>
                    </a:p>
                  </a:txBody>
                  <a:tcPr/>
                </a:tc>
                <a:tc>
                  <a:txBody>
                    <a:bodyPr/>
                    <a:lstStyle/>
                    <a:p>
                      <a:pPr algn="ctr"/>
                      <a:r>
                        <a:rPr lang="en-US" dirty="0"/>
                        <a:t>144</a:t>
                      </a:r>
                    </a:p>
                  </a:txBody>
                  <a:tcPr/>
                </a:tc>
                <a:extLst>
                  <a:ext uri="{0D108BD9-81ED-4DB2-BD59-A6C34878D82A}">
                    <a16:rowId xmlns:a16="http://schemas.microsoft.com/office/drawing/2014/main" val="1924301802"/>
                  </a:ext>
                </a:extLst>
              </a:tr>
              <a:tr h="370840">
                <a:tc>
                  <a:txBody>
                    <a:bodyPr/>
                    <a:lstStyle/>
                    <a:p>
                      <a:pPr algn="ctr"/>
                      <a:r>
                        <a:rPr lang="en-US" dirty="0"/>
                        <a:t>OFFLINE</a:t>
                      </a:r>
                    </a:p>
                  </a:txBody>
                  <a:tcPr/>
                </a:tc>
                <a:tc>
                  <a:txBody>
                    <a:bodyPr/>
                    <a:lstStyle/>
                    <a:p>
                      <a:pPr algn="ctr"/>
                      <a:r>
                        <a:rPr lang="en-US" dirty="0"/>
                        <a:t>107</a:t>
                      </a:r>
                    </a:p>
                  </a:txBody>
                  <a:tcPr/>
                </a:tc>
                <a:extLst>
                  <a:ext uri="{0D108BD9-81ED-4DB2-BD59-A6C34878D82A}">
                    <a16:rowId xmlns:a16="http://schemas.microsoft.com/office/drawing/2014/main" val="1165978882"/>
                  </a:ext>
                </a:extLst>
              </a:tr>
              <a:tr h="370840">
                <a:tc>
                  <a:txBody>
                    <a:bodyPr/>
                    <a:lstStyle/>
                    <a:p>
                      <a:pPr algn="ctr"/>
                      <a:r>
                        <a:rPr lang="en-US" dirty="0"/>
                        <a:t>FOR INSTALLATION</a:t>
                      </a:r>
                    </a:p>
                  </a:txBody>
                  <a:tcPr/>
                </a:tc>
                <a:tc>
                  <a:txBody>
                    <a:bodyPr/>
                    <a:lstStyle/>
                    <a:p>
                      <a:pPr algn="ctr"/>
                      <a:r>
                        <a:rPr lang="en-US" dirty="0"/>
                        <a:t>22</a:t>
                      </a:r>
                    </a:p>
                  </a:txBody>
                  <a:tcPr/>
                </a:tc>
                <a:extLst>
                  <a:ext uri="{0D108BD9-81ED-4DB2-BD59-A6C34878D82A}">
                    <a16:rowId xmlns:a16="http://schemas.microsoft.com/office/drawing/2014/main" val="246625911"/>
                  </a:ext>
                </a:extLst>
              </a:tr>
              <a:tr h="370840">
                <a:tc>
                  <a:txBody>
                    <a:bodyPr/>
                    <a:lstStyle/>
                    <a:p>
                      <a:pPr algn="ctr"/>
                      <a:r>
                        <a:rPr lang="en-US" b="1" dirty="0"/>
                        <a:t>TOTAL</a:t>
                      </a:r>
                    </a:p>
                  </a:txBody>
                  <a:tcPr/>
                </a:tc>
                <a:tc>
                  <a:txBody>
                    <a:bodyPr/>
                    <a:lstStyle/>
                    <a:p>
                      <a:pPr algn="ctr"/>
                      <a:r>
                        <a:rPr lang="en-US" b="1" dirty="0"/>
                        <a:t>273</a:t>
                      </a:r>
                    </a:p>
                  </a:txBody>
                  <a:tcPr/>
                </a:tc>
                <a:extLst>
                  <a:ext uri="{0D108BD9-81ED-4DB2-BD59-A6C34878D82A}">
                    <a16:rowId xmlns:a16="http://schemas.microsoft.com/office/drawing/2014/main" val="2593442123"/>
                  </a:ext>
                </a:extLst>
              </a:tr>
            </a:tbl>
          </a:graphicData>
        </a:graphic>
      </p:graphicFrame>
      <p:graphicFrame>
        <p:nvGraphicFramePr>
          <p:cNvPr id="15" name="Table 15">
            <a:extLst>
              <a:ext uri="{FF2B5EF4-FFF2-40B4-BE49-F238E27FC236}">
                <a16:creationId xmlns:a16="http://schemas.microsoft.com/office/drawing/2014/main" id="{90AA7312-25F7-4A9A-ABC1-073A847740EF}"/>
              </a:ext>
            </a:extLst>
          </p:cNvPr>
          <p:cNvGraphicFramePr>
            <a:graphicFrameLocks noGrp="1"/>
          </p:cNvGraphicFramePr>
          <p:nvPr>
            <p:extLst>
              <p:ext uri="{D42A27DB-BD31-4B8C-83A1-F6EECF244321}">
                <p14:modId xmlns:p14="http://schemas.microsoft.com/office/powerpoint/2010/main" val="2332708675"/>
              </p:ext>
            </p:extLst>
          </p:nvPr>
        </p:nvGraphicFramePr>
        <p:xfrm>
          <a:off x="1524000" y="3421112"/>
          <a:ext cx="6096000" cy="148336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586058240"/>
                    </a:ext>
                  </a:extLst>
                </a:gridCol>
                <a:gridCol w="3048000">
                  <a:extLst>
                    <a:ext uri="{9D8B030D-6E8A-4147-A177-3AD203B41FA5}">
                      <a16:colId xmlns:a16="http://schemas.microsoft.com/office/drawing/2014/main" val="634171344"/>
                    </a:ext>
                  </a:extLst>
                </a:gridCol>
              </a:tblGrid>
              <a:tr h="370840">
                <a:tc gridSpan="2">
                  <a:txBody>
                    <a:bodyPr/>
                    <a:lstStyle/>
                    <a:p>
                      <a:pPr algn="ctr"/>
                      <a:r>
                        <a:rPr lang="en-US" dirty="0"/>
                        <a:t>GPS Installation</a:t>
                      </a:r>
                    </a:p>
                  </a:txBody>
                  <a:tcPr/>
                </a:tc>
                <a:tc hMerge="1">
                  <a:txBody>
                    <a:bodyPr/>
                    <a:lstStyle/>
                    <a:p>
                      <a:endParaRPr lang="en-US" dirty="0"/>
                    </a:p>
                  </a:txBody>
                  <a:tcPr/>
                </a:tc>
                <a:extLst>
                  <a:ext uri="{0D108BD9-81ED-4DB2-BD59-A6C34878D82A}">
                    <a16:rowId xmlns:a16="http://schemas.microsoft.com/office/drawing/2014/main" val="4256673949"/>
                  </a:ext>
                </a:extLst>
              </a:tr>
              <a:tr h="370840">
                <a:tc>
                  <a:txBody>
                    <a:bodyPr/>
                    <a:lstStyle/>
                    <a:p>
                      <a:pPr algn="ctr"/>
                      <a:r>
                        <a:rPr lang="en-US" dirty="0"/>
                        <a:t>WORKING</a:t>
                      </a:r>
                    </a:p>
                  </a:txBody>
                  <a:tcPr/>
                </a:tc>
                <a:tc>
                  <a:txBody>
                    <a:bodyPr/>
                    <a:lstStyle/>
                    <a:p>
                      <a:pPr algn="ctr"/>
                      <a:r>
                        <a:rPr lang="en-US" dirty="0"/>
                        <a:t>51</a:t>
                      </a:r>
                    </a:p>
                  </a:txBody>
                  <a:tcPr/>
                </a:tc>
                <a:extLst>
                  <a:ext uri="{0D108BD9-81ED-4DB2-BD59-A6C34878D82A}">
                    <a16:rowId xmlns:a16="http://schemas.microsoft.com/office/drawing/2014/main" val="2955185579"/>
                  </a:ext>
                </a:extLst>
              </a:tr>
              <a:tr h="370840">
                <a:tc>
                  <a:txBody>
                    <a:bodyPr/>
                    <a:lstStyle/>
                    <a:p>
                      <a:pPr algn="ctr"/>
                      <a:r>
                        <a:rPr lang="en-US" dirty="0"/>
                        <a:t>NOT WORKING</a:t>
                      </a:r>
                    </a:p>
                  </a:txBody>
                  <a:tcPr/>
                </a:tc>
                <a:tc>
                  <a:txBody>
                    <a:bodyPr/>
                    <a:lstStyle/>
                    <a:p>
                      <a:pPr algn="ctr"/>
                      <a:r>
                        <a:rPr lang="en-US" dirty="0"/>
                        <a:t>113</a:t>
                      </a:r>
                    </a:p>
                  </a:txBody>
                  <a:tcPr/>
                </a:tc>
                <a:extLst>
                  <a:ext uri="{0D108BD9-81ED-4DB2-BD59-A6C34878D82A}">
                    <a16:rowId xmlns:a16="http://schemas.microsoft.com/office/drawing/2014/main" val="20840638"/>
                  </a:ext>
                </a:extLst>
              </a:tr>
              <a:tr h="370840">
                <a:tc>
                  <a:txBody>
                    <a:bodyPr/>
                    <a:lstStyle/>
                    <a:p>
                      <a:pPr algn="ctr"/>
                      <a:r>
                        <a:rPr lang="en-US" b="1" dirty="0"/>
                        <a:t>TOTAL</a:t>
                      </a:r>
                    </a:p>
                  </a:txBody>
                  <a:tcPr/>
                </a:tc>
                <a:tc>
                  <a:txBody>
                    <a:bodyPr/>
                    <a:lstStyle/>
                    <a:p>
                      <a:pPr algn="ctr"/>
                      <a:r>
                        <a:rPr lang="en-US" b="1" dirty="0"/>
                        <a:t>164</a:t>
                      </a:r>
                    </a:p>
                  </a:txBody>
                  <a:tcPr/>
                </a:tc>
                <a:extLst>
                  <a:ext uri="{0D108BD9-81ED-4DB2-BD59-A6C34878D82A}">
                    <a16:rowId xmlns:a16="http://schemas.microsoft.com/office/drawing/2014/main" val="154223653"/>
                  </a:ext>
                </a:extLst>
              </a:tr>
            </a:tbl>
          </a:graphicData>
        </a:graphic>
      </p:graphicFrame>
    </p:spTree>
    <p:extLst>
      <p:ext uri="{BB962C8B-B14F-4D97-AF65-F5344CB8AC3E}">
        <p14:creationId xmlns:p14="http://schemas.microsoft.com/office/powerpoint/2010/main" val="2539206394"/>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430263276"/>
              </p:ext>
            </p:extLst>
          </p:nvPr>
        </p:nvGraphicFramePr>
        <p:xfrm>
          <a:off x="0" y="571595"/>
          <a:ext cx="9144000"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Accomplishments</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807865" y="689201"/>
            <a:ext cx="6651886" cy="6001643"/>
          </a:xfrm>
          <a:prstGeom prst="rect">
            <a:avLst/>
          </a:prstGeom>
          <a:noFill/>
        </p:spPr>
        <p:txBody>
          <a:bodyPr wrap="none" rtlCol="0">
            <a:spAutoFit/>
          </a:bodyPr>
          <a:lstStyle/>
          <a:p>
            <a:pPr marL="285750" indent="-285750">
              <a:buFont typeface="Wingdings" panose="05000000000000000000" pitchFamily="2" charset="2"/>
              <a:buChar char="ü"/>
            </a:pPr>
            <a:r>
              <a:rPr lang="en-US" sz="1600" dirty="0"/>
              <a:t>SP Warehouse/Sales</a:t>
            </a:r>
          </a:p>
          <a:p>
            <a:pPr marL="742950" lvl="1" indent="-285750">
              <a:buFont typeface="Wingdings" panose="05000000000000000000" pitchFamily="2" charset="2"/>
              <a:buChar char="ü"/>
            </a:pPr>
            <a:r>
              <a:rPr lang="en-US" sz="1600" dirty="0"/>
              <a:t>Bar code reader support on system – FOR IMPLEMENTATION</a:t>
            </a:r>
          </a:p>
          <a:p>
            <a:pPr marL="285750" indent="-285750">
              <a:buFont typeface="Wingdings" panose="05000000000000000000" pitchFamily="2" charset="2"/>
              <a:buChar char="ü"/>
            </a:pPr>
            <a:r>
              <a:rPr lang="en-US" sz="1600" dirty="0"/>
              <a:t>MP Division</a:t>
            </a:r>
          </a:p>
          <a:p>
            <a:pPr marL="742950" lvl="1" indent="-285750">
              <a:buFont typeface="Wingdings" panose="05000000000000000000" pitchFamily="2" charset="2"/>
              <a:buChar char="ü"/>
            </a:pPr>
            <a:r>
              <a:rPr lang="en-US" sz="1600" dirty="0"/>
              <a:t>E-Commerce – IMPLEMENTED</a:t>
            </a:r>
          </a:p>
          <a:p>
            <a:pPr marL="285750" indent="-285750">
              <a:buFont typeface="Wingdings" panose="05000000000000000000" pitchFamily="2" charset="2"/>
              <a:buChar char="ü"/>
            </a:pPr>
            <a:r>
              <a:rPr lang="en-US" sz="1600" dirty="0"/>
              <a:t>Finance Management</a:t>
            </a:r>
          </a:p>
          <a:p>
            <a:pPr marL="742950" lvl="1" indent="-285750">
              <a:buFont typeface="Wingdings" panose="05000000000000000000" pitchFamily="2" charset="2"/>
              <a:buChar char="ü"/>
            </a:pPr>
            <a:r>
              <a:rPr lang="en-US" sz="1600" dirty="0"/>
              <a:t>Petty Cash thru system – DEPARTMENT IMPLEMENTED</a:t>
            </a:r>
          </a:p>
          <a:p>
            <a:pPr marL="742950" lvl="1" indent="-285750">
              <a:buFont typeface="Wingdings" panose="05000000000000000000" pitchFamily="2" charset="2"/>
              <a:buChar char="ü"/>
            </a:pPr>
            <a:r>
              <a:rPr lang="en-US" sz="1600" dirty="0"/>
              <a:t>Payment Text Request – IMPLEMENTED</a:t>
            </a:r>
          </a:p>
          <a:p>
            <a:pPr marL="742950" lvl="1" indent="-285750">
              <a:buFont typeface="Wingdings" panose="05000000000000000000" pitchFamily="2" charset="2"/>
              <a:buChar char="ü"/>
            </a:pPr>
            <a:r>
              <a:rPr lang="en-US" sz="1600" dirty="0"/>
              <a:t>Insurance (TPL-COC) Payment Posting – IMPLEMENTED</a:t>
            </a:r>
          </a:p>
          <a:p>
            <a:pPr marL="742950" lvl="1" indent="-285750">
              <a:buFont typeface="Wingdings" panose="05000000000000000000" pitchFamily="2" charset="2"/>
              <a:buChar char="ü"/>
            </a:pPr>
            <a:r>
              <a:rPr lang="en-US" sz="1600" dirty="0"/>
              <a:t>Cellphone Accessories Consignment Payment – Moved to 2021 Plans</a:t>
            </a:r>
          </a:p>
          <a:p>
            <a:pPr marL="285750" indent="-285750">
              <a:buFont typeface="Wingdings" panose="05000000000000000000" pitchFamily="2" charset="2"/>
              <a:buChar char="ü"/>
            </a:pPr>
            <a:r>
              <a:rPr lang="en-US" sz="1600" dirty="0"/>
              <a:t>MIS</a:t>
            </a:r>
          </a:p>
          <a:p>
            <a:pPr marL="742950" lvl="1" indent="-285750">
              <a:buFont typeface="Wingdings" panose="05000000000000000000" pitchFamily="2" charset="2"/>
              <a:buChar char="ü"/>
            </a:pPr>
            <a:r>
              <a:rPr lang="en-US" sz="1600" dirty="0"/>
              <a:t>Card less G-Card (QR Code) – AREA IMPLEMENTED</a:t>
            </a:r>
          </a:p>
          <a:p>
            <a:pPr marL="742950" lvl="1" indent="-285750">
              <a:buFont typeface="Wingdings" panose="05000000000000000000" pitchFamily="2" charset="2"/>
              <a:buChar char="ü"/>
            </a:pPr>
            <a:r>
              <a:rPr lang="en-US" sz="1600" dirty="0"/>
              <a:t>Android (</a:t>
            </a:r>
            <a:r>
              <a:rPr lang="en-US" sz="1600" dirty="0" err="1"/>
              <a:t>IntegSys</a:t>
            </a:r>
            <a:r>
              <a:rPr lang="en-US" sz="1600" dirty="0"/>
              <a:t>) – IMPLEMENTED</a:t>
            </a:r>
          </a:p>
          <a:p>
            <a:pPr marL="742950" lvl="1" indent="-285750">
              <a:buFont typeface="Wingdings" panose="05000000000000000000" pitchFamily="2" charset="2"/>
              <a:buChar char="ü"/>
            </a:pPr>
            <a:r>
              <a:rPr lang="en-US" sz="1600" dirty="0"/>
              <a:t>Payroll (Engineering) – IMPLEMENTED</a:t>
            </a:r>
          </a:p>
          <a:p>
            <a:pPr marL="742950" lvl="1" indent="-285750">
              <a:buFont typeface="Wingdings" panose="05000000000000000000" pitchFamily="2" charset="2"/>
              <a:buChar char="ü"/>
            </a:pPr>
            <a:r>
              <a:rPr lang="en-US" sz="1600" dirty="0"/>
              <a:t>Approval Code (S’ Jo, S’ Guan, S’ Arnold) – Moved to 2021 Plans</a:t>
            </a:r>
          </a:p>
          <a:p>
            <a:pPr marL="742950" lvl="1" indent="-285750">
              <a:buFont typeface="Wingdings" panose="05000000000000000000" pitchFamily="2" charset="2"/>
              <a:buChar char="ü"/>
            </a:pPr>
            <a:r>
              <a:rPr lang="en-US" sz="1600" dirty="0"/>
              <a:t>Tablet for activities – Deferred</a:t>
            </a:r>
          </a:p>
          <a:p>
            <a:pPr marL="742950" lvl="1" indent="-285750">
              <a:buFont typeface="Wingdings" panose="05000000000000000000" pitchFamily="2" charset="2"/>
              <a:buChar char="ü"/>
            </a:pPr>
            <a:r>
              <a:rPr lang="en-US" sz="1600" dirty="0"/>
              <a:t>Text Reminders for Employees – Deferred</a:t>
            </a:r>
          </a:p>
          <a:p>
            <a:pPr marL="742950" lvl="1" indent="-285750">
              <a:buFont typeface="Wingdings" panose="05000000000000000000" pitchFamily="2" charset="2"/>
              <a:buChar char="ü"/>
            </a:pPr>
            <a:r>
              <a:rPr lang="en-US" sz="1600" dirty="0"/>
              <a:t>Branch Authentication thru Biometrics – Deferred</a:t>
            </a:r>
          </a:p>
          <a:p>
            <a:pPr marL="285750" indent="-285750">
              <a:buFont typeface="Wingdings" panose="05000000000000000000" pitchFamily="2" charset="2"/>
              <a:buChar char="ü"/>
            </a:pPr>
            <a:r>
              <a:rPr lang="en-US" sz="1600" dirty="0"/>
              <a:t>Others</a:t>
            </a:r>
          </a:p>
          <a:p>
            <a:pPr marL="742950" lvl="1" indent="-285750">
              <a:buFont typeface="Wingdings" panose="05000000000000000000" pitchFamily="2" charset="2"/>
              <a:buChar char="ü"/>
            </a:pPr>
            <a:r>
              <a:rPr lang="en-US" sz="1600" dirty="0"/>
              <a:t>Text Blast Report – Deferred</a:t>
            </a:r>
          </a:p>
          <a:p>
            <a:pPr marL="742950" lvl="1" indent="-285750">
              <a:buFont typeface="Wingdings" panose="05000000000000000000" pitchFamily="2" charset="2"/>
              <a:buChar char="ü"/>
            </a:pPr>
            <a:r>
              <a:rPr lang="en-US" sz="1600" dirty="0"/>
              <a:t>Expand Rider’s club program - IMPLEMENTED</a:t>
            </a:r>
          </a:p>
          <a:p>
            <a:pPr marL="742950" lvl="1" indent="-285750">
              <a:buFont typeface="Wingdings" panose="05000000000000000000" pitchFamily="2" charset="2"/>
              <a:buChar char="ü"/>
            </a:pPr>
            <a:r>
              <a:rPr lang="en-US" sz="1600" dirty="0"/>
              <a:t>Explore service by appointment – was on 2021 Plans</a:t>
            </a:r>
          </a:p>
          <a:p>
            <a:pPr marL="742950" lvl="1" indent="-285750">
              <a:buFont typeface="Wingdings" panose="05000000000000000000" pitchFamily="2" charset="2"/>
              <a:buChar char="ü"/>
            </a:pPr>
            <a:r>
              <a:rPr lang="en-US" sz="1600" dirty="0"/>
              <a:t>Explore priority service lane for G-Card holder</a:t>
            </a:r>
          </a:p>
          <a:p>
            <a:pPr marL="285750" indent="-285750">
              <a:buFont typeface="Wingdings" panose="05000000000000000000" pitchFamily="2" charset="2"/>
              <a:buChar char="ü"/>
            </a:pPr>
            <a:endParaRPr lang="en-US" sz="1600" dirty="0"/>
          </a:p>
          <a:p>
            <a:pPr marL="285750" indent="-285750">
              <a:buFont typeface="Wingdings" panose="05000000000000000000" pitchFamily="2" charset="2"/>
              <a:buChar char="ü"/>
            </a:pPr>
            <a:endParaRPr lang="en-US" sz="1600"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4479220" y="82707"/>
            <a:ext cx="4293484" cy="400110"/>
          </a:xfrm>
          <a:prstGeom prst="rect">
            <a:avLst/>
          </a:prstGeom>
          <a:noFill/>
        </p:spPr>
        <p:txBody>
          <a:bodyPr wrap="none" rtlCol="0">
            <a:spAutoFit/>
          </a:bodyPr>
          <a:lstStyle/>
          <a:p>
            <a:pPr algn="ctr"/>
            <a:r>
              <a:rPr lang="en-US" sz="2000" b="1" dirty="0">
                <a:solidFill>
                  <a:schemeClr val="bg1"/>
                </a:solidFill>
              </a:rPr>
              <a:t>System Development – 2019 Strat Plan</a:t>
            </a:r>
          </a:p>
        </p:txBody>
      </p:sp>
    </p:spTree>
    <p:extLst>
      <p:ext uri="{BB962C8B-B14F-4D97-AF65-F5344CB8AC3E}">
        <p14:creationId xmlns:p14="http://schemas.microsoft.com/office/powerpoint/2010/main" val="1929965372"/>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724110144"/>
              </p:ext>
            </p:extLst>
          </p:nvPr>
        </p:nvGraphicFramePr>
        <p:xfrm>
          <a:off x="8878" y="571594"/>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2021 Plans</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5404140" y="82707"/>
            <a:ext cx="2443618" cy="400110"/>
          </a:xfrm>
          <a:prstGeom prst="rect">
            <a:avLst/>
          </a:prstGeom>
          <a:noFill/>
        </p:spPr>
        <p:txBody>
          <a:bodyPr wrap="none" rtlCol="0">
            <a:spAutoFit/>
          </a:bodyPr>
          <a:lstStyle/>
          <a:p>
            <a:pPr algn="ctr"/>
            <a:r>
              <a:rPr lang="en-US" sz="2000" b="1" dirty="0">
                <a:solidFill>
                  <a:schemeClr val="bg1"/>
                </a:solidFill>
              </a:rPr>
              <a:t>System Development</a:t>
            </a:r>
          </a:p>
        </p:txBody>
      </p:sp>
      <p:sp>
        <p:nvSpPr>
          <p:cNvPr id="14" name="Rectangle 13">
            <a:extLst>
              <a:ext uri="{FF2B5EF4-FFF2-40B4-BE49-F238E27FC236}">
                <a16:creationId xmlns:a16="http://schemas.microsoft.com/office/drawing/2014/main" id="{6DF3FB33-2223-42C6-968E-BF7FB1C4FAEF}"/>
              </a:ext>
            </a:extLst>
          </p:cNvPr>
          <p:cNvSpPr/>
          <p:nvPr/>
        </p:nvSpPr>
        <p:spPr>
          <a:xfrm>
            <a:off x="1828437" y="1559262"/>
            <a:ext cx="3366627"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4400" b="1" dirty="0">
                <a:ln w="9525">
                  <a:solidFill>
                    <a:schemeClr val="tx1"/>
                  </a:solidFill>
                  <a:prstDash val="solid"/>
                </a:ln>
                <a:effectLst>
                  <a:outerShdw blurRad="12700" dist="38100" dir="2700000" algn="tl" rotWithShape="0">
                    <a:schemeClr val="bg1">
                      <a:lumMod val="50000"/>
                    </a:schemeClr>
                  </a:outerShdw>
                </a:effectLst>
              </a:rPr>
              <a:t>Android Apps</a:t>
            </a:r>
          </a:p>
        </p:txBody>
      </p:sp>
      <p:pic>
        <p:nvPicPr>
          <p:cNvPr id="15" name="Picture 14">
            <a:extLst>
              <a:ext uri="{FF2B5EF4-FFF2-40B4-BE49-F238E27FC236}">
                <a16:creationId xmlns:a16="http://schemas.microsoft.com/office/drawing/2014/main" id="{3071B6B6-DDA8-4399-940A-7F3BAECFCD5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5793" y="1422775"/>
            <a:ext cx="1042416" cy="1042416"/>
          </a:xfrm>
          <a:prstGeom prst="rect">
            <a:avLst/>
          </a:prstGeom>
        </p:spPr>
      </p:pic>
      <p:sp>
        <p:nvSpPr>
          <p:cNvPr id="16" name="Rectangle 15">
            <a:extLst>
              <a:ext uri="{FF2B5EF4-FFF2-40B4-BE49-F238E27FC236}">
                <a16:creationId xmlns:a16="http://schemas.microsoft.com/office/drawing/2014/main" id="{E96EA5A0-8D79-431A-A61C-61633C0DF0C5}"/>
              </a:ext>
            </a:extLst>
          </p:cNvPr>
          <p:cNvSpPr/>
          <p:nvPr/>
        </p:nvSpPr>
        <p:spPr>
          <a:xfrm>
            <a:off x="1828437" y="2906082"/>
            <a:ext cx="5133906"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4400" b="1" dirty="0">
                <a:ln w="9525">
                  <a:solidFill>
                    <a:schemeClr val="tx1"/>
                  </a:solidFill>
                  <a:prstDash val="solid"/>
                </a:ln>
                <a:effectLst>
                  <a:outerShdw blurRad="12700" dist="38100" dir="2700000" algn="tl" rotWithShape="0">
                    <a:schemeClr val="bg1">
                      <a:lumMod val="50000"/>
                    </a:schemeClr>
                  </a:outerShdw>
                </a:effectLst>
              </a:rPr>
              <a:t>Desktop Applications</a:t>
            </a:r>
          </a:p>
        </p:txBody>
      </p:sp>
      <p:pic>
        <p:nvPicPr>
          <p:cNvPr id="17" name="Picture 16">
            <a:extLst>
              <a:ext uri="{FF2B5EF4-FFF2-40B4-BE49-F238E27FC236}">
                <a16:creationId xmlns:a16="http://schemas.microsoft.com/office/drawing/2014/main" id="{DD18ED3A-863D-4CAA-9313-E4DD1430363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5793" y="2769595"/>
            <a:ext cx="1042416" cy="1042416"/>
          </a:xfrm>
          <a:prstGeom prst="rect">
            <a:avLst/>
          </a:prstGeom>
        </p:spPr>
      </p:pic>
      <p:sp>
        <p:nvSpPr>
          <p:cNvPr id="19" name="Rectangle 18">
            <a:extLst>
              <a:ext uri="{FF2B5EF4-FFF2-40B4-BE49-F238E27FC236}">
                <a16:creationId xmlns:a16="http://schemas.microsoft.com/office/drawing/2014/main" id="{E9EA20DD-C139-4A7F-9685-7A102FC2DE51}"/>
              </a:ext>
            </a:extLst>
          </p:cNvPr>
          <p:cNvSpPr/>
          <p:nvPr/>
        </p:nvSpPr>
        <p:spPr>
          <a:xfrm>
            <a:off x="1843884" y="4221675"/>
            <a:ext cx="2094548" cy="769441"/>
          </a:xfrm>
          <a:prstGeom prst="rect">
            <a:avLst/>
          </a:prstGeom>
          <a:noFill/>
        </p:spPr>
        <p:txBody>
          <a:bodyPr wrap="none" lIns="91440" tIns="45720" rIns="91440" bIns="4572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sz="4400" b="1" dirty="0">
                <a:ln w="9525">
                  <a:solidFill>
                    <a:schemeClr val="tx1"/>
                  </a:solidFill>
                  <a:prstDash val="solid"/>
                </a:ln>
                <a:effectLst>
                  <a:outerShdw blurRad="12700" dist="38100" dir="2700000" algn="tl" rotWithShape="0">
                    <a:schemeClr val="bg1">
                      <a:lumMod val="50000"/>
                    </a:schemeClr>
                  </a:outerShdw>
                </a:effectLst>
              </a:rPr>
              <a:t>Website</a:t>
            </a:r>
          </a:p>
        </p:txBody>
      </p:sp>
      <p:pic>
        <p:nvPicPr>
          <p:cNvPr id="20" name="Picture 19">
            <a:extLst>
              <a:ext uri="{FF2B5EF4-FFF2-40B4-BE49-F238E27FC236}">
                <a16:creationId xmlns:a16="http://schemas.microsoft.com/office/drawing/2014/main" id="{8A283D48-33F2-4386-BC64-7467439BAF4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31240" y="4085188"/>
            <a:ext cx="1042416" cy="1042416"/>
          </a:xfrm>
          <a:prstGeom prst="rect">
            <a:avLst/>
          </a:prstGeom>
        </p:spPr>
      </p:pic>
    </p:spTree>
    <p:extLst>
      <p:ext uri="{BB962C8B-B14F-4D97-AF65-F5344CB8AC3E}">
        <p14:creationId xmlns:p14="http://schemas.microsoft.com/office/powerpoint/2010/main" val="3637710443"/>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anim calcmode="lin" valueType="num">
                                      <p:cBhvr>
                                        <p:cTn id="9" dur="1000" fill="hold"/>
                                        <p:tgtEl>
                                          <p:spTgt spid="15"/>
                                        </p:tgtEl>
                                        <p:attrNameLst>
                                          <p:attrName>style.rotation</p:attrName>
                                        </p:attrNameLst>
                                      </p:cBhvr>
                                      <p:tavLst>
                                        <p:tav tm="0">
                                          <p:val>
                                            <p:fltVal val="90"/>
                                          </p:val>
                                        </p:tav>
                                        <p:tav tm="100000">
                                          <p:val>
                                            <p:fltVal val="0"/>
                                          </p:val>
                                        </p:tav>
                                      </p:tavLst>
                                    </p:anim>
                                    <p:animEffect transition="in" filter="fade">
                                      <p:cBhvr>
                                        <p:cTn id="10" dur="1000"/>
                                        <p:tgtEl>
                                          <p:spTgt spid="1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childTnLst>
                                </p:cTn>
                              </p:par>
                            </p:childTnLst>
                          </p:cTn>
                        </p:par>
                        <p:par>
                          <p:cTn id="14" fill="hold">
                            <p:stCondLst>
                              <p:cond delay="1000"/>
                            </p:stCondLst>
                            <p:childTnLst>
                              <p:par>
                                <p:cTn id="15" presetID="31" presetClass="entr" presetSubtype="0"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1000" fill="hold"/>
                                        <p:tgtEl>
                                          <p:spTgt spid="17"/>
                                        </p:tgtEl>
                                        <p:attrNameLst>
                                          <p:attrName>ppt_w</p:attrName>
                                        </p:attrNameLst>
                                      </p:cBhvr>
                                      <p:tavLst>
                                        <p:tav tm="0">
                                          <p:val>
                                            <p:fltVal val="0"/>
                                          </p:val>
                                        </p:tav>
                                        <p:tav tm="100000">
                                          <p:val>
                                            <p:strVal val="#ppt_w"/>
                                          </p:val>
                                        </p:tav>
                                      </p:tavLst>
                                    </p:anim>
                                    <p:anim calcmode="lin" valueType="num">
                                      <p:cBhvr>
                                        <p:cTn id="18" dur="1000" fill="hold"/>
                                        <p:tgtEl>
                                          <p:spTgt spid="17"/>
                                        </p:tgtEl>
                                        <p:attrNameLst>
                                          <p:attrName>ppt_h</p:attrName>
                                        </p:attrNameLst>
                                      </p:cBhvr>
                                      <p:tavLst>
                                        <p:tav tm="0">
                                          <p:val>
                                            <p:fltVal val="0"/>
                                          </p:val>
                                        </p:tav>
                                        <p:tav tm="100000">
                                          <p:val>
                                            <p:strVal val="#ppt_h"/>
                                          </p:val>
                                        </p:tav>
                                      </p:tavLst>
                                    </p:anim>
                                    <p:anim calcmode="lin" valueType="num">
                                      <p:cBhvr>
                                        <p:cTn id="19" dur="1000" fill="hold"/>
                                        <p:tgtEl>
                                          <p:spTgt spid="17"/>
                                        </p:tgtEl>
                                        <p:attrNameLst>
                                          <p:attrName>style.rotation</p:attrName>
                                        </p:attrNameLst>
                                      </p:cBhvr>
                                      <p:tavLst>
                                        <p:tav tm="0">
                                          <p:val>
                                            <p:fltVal val="90"/>
                                          </p:val>
                                        </p:tav>
                                        <p:tav tm="100000">
                                          <p:val>
                                            <p:fltVal val="0"/>
                                          </p:val>
                                        </p:tav>
                                      </p:tavLst>
                                    </p:anim>
                                    <p:animEffect transition="in" filter="fade">
                                      <p:cBhvr>
                                        <p:cTn id="20" dur="1000"/>
                                        <p:tgtEl>
                                          <p:spTgt spid="1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000"/>
                                        <p:tgtEl>
                                          <p:spTgt spid="16"/>
                                        </p:tgtEl>
                                      </p:cBhvr>
                                    </p:animEffect>
                                  </p:childTnLst>
                                </p:cTn>
                              </p:par>
                            </p:childTnLst>
                          </p:cTn>
                        </p:par>
                        <p:par>
                          <p:cTn id="24" fill="hold">
                            <p:stCondLst>
                              <p:cond delay="2000"/>
                            </p:stCondLst>
                            <p:childTnLst>
                              <p:par>
                                <p:cTn id="25" presetID="31" presetClass="entr" presetSubtype="0" fill="hold" nodeType="afterEffect">
                                  <p:stCondLst>
                                    <p:cond delay="0"/>
                                  </p:stCondLst>
                                  <p:childTnLst>
                                    <p:set>
                                      <p:cBhvr>
                                        <p:cTn id="26" dur="1" fill="hold">
                                          <p:stCondLst>
                                            <p:cond delay="0"/>
                                          </p:stCondLst>
                                        </p:cTn>
                                        <p:tgtEl>
                                          <p:spTgt spid="20"/>
                                        </p:tgtEl>
                                        <p:attrNameLst>
                                          <p:attrName>style.visibility</p:attrName>
                                        </p:attrNameLst>
                                      </p:cBhvr>
                                      <p:to>
                                        <p:strVal val="visible"/>
                                      </p:to>
                                    </p:set>
                                    <p:anim calcmode="lin" valueType="num">
                                      <p:cBhvr>
                                        <p:cTn id="27" dur="1000" fill="hold"/>
                                        <p:tgtEl>
                                          <p:spTgt spid="20"/>
                                        </p:tgtEl>
                                        <p:attrNameLst>
                                          <p:attrName>ppt_w</p:attrName>
                                        </p:attrNameLst>
                                      </p:cBhvr>
                                      <p:tavLst>
                                        <p:tav tm="0">
                                          <p:val>
                                            <p:fltVal val="0"/>
                                          </p:val>
                                        </p:tav>
                                        <p:tav tm="100000">
                                          <p:val>
                                            <p:strVal val="#ppt_w"/>
                                          </p:val>
                                        </p:tav>
                                      </p:tavLst>
                                    </p:anim>
                                    <p:anim calcmode="lin" valueType="num">
                                      <p:cBhvr>
                                        <p:cTn id="28" dur="1000" fill="hold"/>
                                        <p:tgtEl>
                                          <p:spTgt spid="20"/>
                                        </p:tgtEl>
                                        <p:attrNameLst>
                                          <p:attrName>ppt_h</p:attrName>
                                        </p:attrNameLst>
                                      </p:cBhvr>
                                      <p:tavLst>
                                        <p:tav tm="0">
                                          <p:val>
                                            <p:fltVal val="0"/>
                                          </p:val>
                                        </p:tav>
                                        <p:tav tm="100000">
                                          <p:val>
                                            <p:strVal val="#ppt_h"/>
                                          </p:val>
                                        </p:tav>
                                      </p:tavLst>
                                    </p:anim>
                                    <p:anim calcmode="lin" valueType="num">
                                      <p:cBhvr>
                                        <p:cTn id="29" dur="1000" fill="hold"/>
                                        <p:tgtEl>
                                          <p:spTgt spid="20"/>
                                        </p:tgtEl>
                                        <p:attrNameLst>
                                          <p:attrName>style.rotation</p:attrName>
                                        </p:attrNameLst>
                                      </p:cBhvr>
                                      <p:tavLst>
                                        <p:tav tm="0">
                                          <p:val>
                                            <p:fltVal val="90"/>
                                          </p:val>
                                        </p:tav>
                                        <p:tav tm="100000">
                                          <p:val>
                                            <p:fltVal val="0"/>
                                          </p:val>
                                        </p:tav>
                                      </p:tavLst>
                                    </p:anim>
                                    <p:animEffect transition="in" filter="fade">
                                      <p:cBhvr>
                                        <p:cTn id="30" dur="100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nvGraphicFramePr>
        <p:xfrm>
          <a:off x="0" y="589350"/>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System Development</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36434" y="693943"/>
            <a:ext cx="3910686" cy="3693319"/>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en-US" dirty="0"/>
              <a:t>Guanzon App for Customers</a:t>
            </a:r>
          </a:p>
          <a:p>
            <a:pPr marL="742950" lvl="1" indent="-285750">
              <a:lnSpc>
                <a:spcPct val="150000"/>
              </a:lnSpc>
              <a:buFont typeface="Wingdings" panose="05000000000000000000" pitchFamily="2" charset="2"/>
              <a:buChar char="ü"/>
            </a:pPr>
            <a:r>
              <a:rPr lang="en-US" dirty="0"/>
              <a:t>Notification/Messaging</a:t>
            </a:r>
          </a:p>
          <a:p>
            <a:pPr marL="742950" lvl="1" indent="-285750">
              <a:lnSpc>
                <a:spcPct val="150000"/>
              </a:lnSpc>
              <a:buFont typeface="Wingdings" panose="05000000000000000000" pitchFamily="2" charset="2"/>
              <a:buChar char="ü"/>
            </a:pPr>
            <a:r>
              <a:rPr lang="en-US" dirty="0"/>
              <a:t>Service Hotline</a:t>
            </a:r>
          </a:p>
          <a:p>
            <a:pPr marL="742950" lvl="1" indent="-285750">
              <a:lnSpc>
                <a:spcPct val="150000"/>
              </a:lnSpc>
              <a:buFont typeface="Wingdings" panose="05000000000000000000" pitchFamily="2" charset="2"/>
              <a:buChar char="ü"/>
            </a:pPr>
            <a:r>
              <a:rPr lang="en-US" dirty="0"/>
              <a:t>Parts/Unit Ordering</a:t>
            </a:r>
          </a:p>
          <a:p>
            <a:pPr marL="742950" lvl="1" indent="-285750">
              <a:lnSpc>
                <a:spcPct val="150000"/>
              </a:lnSpc>
              <a:buFont typeface="Wingdings" panose="05000000000000000000" pitchFamily="2" charset="2"/>
              <a:buChar char="ü"/>
            </a:pPr>
            <a:r>
              <a:rPr lang="en-US" dirty="0"/>
              <a:t>Pre-term Computation</a:t>
            </a:r>
          </a:p>
          <a:p>
            <a:pPr marL="742950" lvl="1" indent="-285750">
              <a:lnSpc>
                <a:spcPct val="150000"/>
              </a:lnSpc>
              <a:buFont typeface="Wingdings" panose="05000000000000000000" pitchFamily="2" charset="2"/>
              <a:buChar char="ü"/>
            </a:pPr>
            <a:r>
              <a:rPr lang="en-US" dirty="0"/>
              <a:t>Service Scheduling</a:t>
            </a:r>
          </a:p>
          <a:p>
            <a:pPr marL="742950" lvl="1" indent="-285750">
              <a:lnSpc>
                <a:spcPct val="150000"/>
              </a:lnSpc>
              <a:buFont typeface="Wingdings" panose="05000000000000000000" pitchFamily="2" charset="2"/>
              <a:buChar char="ü"/>
            </a:pPr>
            <a:r>
              <a:rPr lang="en-US" dirty="0"/>
              <a:t>Online Credit Application</a:t>
            </a:r>
          </a:p>
          <a:p>
            <a:pPr marL="742950" lvl="1" indent="-285750">
              <a:lnSpc>
                <a:spcPct val="150000"/>
              </a:lnSpc>
              <a:buFont typeface="Wingdings" panose="05000000000000000000" pitchFamily="2" charset="2"/>
              <a:buChar char="ü"/>
            </a:pPr>
            <a:r>
              <a:rPr lang="en-US" dirty="0"/>
              <a:t>Online Employment Application</a:t>
            </a:r>
          </a:p>
          <a:p>
            <a:pPr marL="742950" lvl="1" indent="-285750">
              <a:buFont typeface="Wingdings" panose="05000000000000000000" pitchFamily="2" charset="2"/>
              <a:buChar char="ü"/>
            </a:pPr>
            <a:endParaRPr lang="en-US"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5450732" y="112529"/>
            <a:ext cx="1632563" cy="400110"/>
          </a:xfrm>
          <a:prstGeom prst="rect">
            <a:avLst/>
          </a:prstGeom>
          <a:noFill/>
        </p:spPr>
        <p:txBody>
          <a:bodyPr wrap="none" rtlCol="0">
            <a:spAutoFit/>
          </a:bodyPr>
          <a:lstStyle/>
          <a:p>
            <a:pPr algn="ctr"/>
            <a:r>
              <a:rPr lang="en-US" sz="2000" b="1" dirty="0">
                <a:solidFill>
                  <a:schemeClr val="bg1"/>
                </a:solidFill>
              </a:rPr>
              <a:t>Android Apps</a:t>
            </a:r>
          </a:p>
        </p:txBody>
      </p:sp>
    </p:spTree>
    <p:extLst>
      <p:ext uri="{BB962C8B-B14F-4D97-AF65-F5344CB8AC3E}">
        <p14:creationId xmlns:p14="http://schemas.microsoft.com/office/powerpoint/2010/main" val="3044625723"/>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3104064946"/>
              </p:ext>
            </p:extLst>
          </p:nvPr>
        </p:nvGraphicFramePr>
        <p:xfrm>
          <a:off x="0" y="553838"/>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System Development</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0" y="689201"/>
            <a:ext cx="5278496" cy="5509200"/>
          </a:xfrm>
          <a:prstGeom prst="rect">
            <a:avLst/>
          </a:prstGeom>
          <a:noFill/>
        </p:spPr>
        <p:txBody>
          <a:bodyPr wrap="none" rtlCol="0">
            <a:spAutoFit/>
          </a:bodyPr>
          <a:lstStyle/>
          <a:p>
            <a:pPr marL="285750" indent="-285750">
              <a:buFont typeface="Wingdings" panose="05000000000000000000" pitchFamily="2" charset="2"/>
              <a:buChar char="ü"/>
            </a:pPr>
            <a:r>
              <a:rPr lang="en-US" sz="1600" dirty="0"/>
              <a:t>Guanzon App for Employees</a:t>
            </a:r>
          </a:p>
          <a:p>
            <a:pPr marL="285750" indent="-285750">
              <a:buFont typeface="Wingdings" panose="05000000000000000000" pitchFamily="2" charset="2"/>
              <a:buChar char="ü"/>
            </a:pPr>
            <a:endParaRPr lang="en-US" sz="1600" dirty="0"/>
          </a:p>
          <a:p>
            <a:pPr marL="742950" lvl="1" indent="-285750">
              <a:buFont typeface="Wingdings" panose="05000000000000000000" pitchFamily="2" charset="2"/>
              <a:buChar char="ü"/>
            </a:pPr>
            <a:r>
              <a:rPr lang="en-US" sz="1600" dirty="0"/>
              <a:t>DCP</a:t>
            </a:r>
          </a:p>
          <a:p>
            <a:pPr marL="742950" lvl="1" indent="-285750">
              <a:buFont typeface="Wingdings" panose="05000000000000000000" pitchFamily="2" charset="2"/>
              <a:buChar char="ü"/>
            </a:pPr>
            <a:r>
              <a:rPr lang="en-US" sz="1600" dirty="0"/>
              <a:t>Credit Investigation</a:t>
            </a:r>
          </a:p>
          <a:p>
            <a:pPr marL="742950" lvl="1" indent="-285750">
              <a:buFont typeface="Wingdings" panose="05000000000000000000" pitchFamily="2" charset="2"/>
              <a:buChar char="ü"/>
            </a:pPr>
            <a:r>
              <a:rPr lang="en-US" sz="1600" dirty="0"/>
              <a:t>Online Credit Application</a:t>
            </a:r>
          </a:p>
          <a:p>
            <a:pPr marL="1200150" lvl="2" indent="-285750">
              <a:buFont typeface="Wingdings" panose="05000000000000000000" pitchFamily="2" charset="2"/>
              <a:buChar char="ü"/>
            </a:pPr>
            <a:r>
              <a:rPr lang="en-US" sz="1600" dirty="0"/>
              <a:t>Document scanning feature</a:t>
            </a:r>
          </a:p>
          <a:p>
            <a:pPr marL="1200150" lvl="2" indent="-285750">
              <a:buFont typeface="Wingdings" panose="05000000000000000000" pitchFamily="2" charset="2"/>
              <a:buChar char="ü"/>
            </a:pPr>
            <a:r>
              <a:rPr lang="en-US" sz="1600" dirty="0"/>
              <a:t>Applicant photo capture feature</a:t>
            </a:r>
          </a:p>
          <a:p>
            <a:pPr marL="742950" lvl="1" indent="-285750">
              <a:buFont typeface="Wingdings" panose="05000000000000000000" pitchFamily="2" charset="2"/>
              <a:buChar char="ü"/>
            </a:pPr>
            <a:r>
              <a:rPr lang="en-US" sz="1600" dirty="0"/>
              <a:t>Payroll, Employee and Timekeeper Manager</a:t>
            </a:r>
          </a:p>
          <a:p>
            <a:pPr marL="1200150" lvl="2" indent="-285750">
              <a:buFont typeface="Wingdings" panose="05000000000000000000" pitchFamily="2" charset="2"/>
              <a:buChar char="ü"/>
            </a:pPr>
            <a:r>
              <a:rPr lang="en-US" sz="1600" dirty="0"/>
              <a:t>Selfie Login</a:t>
            </a:r>
          </a:p>
          <a:p>
            <a:pPr marL="1200150" lvl="2" indent="-285750">
              <a:buFont typeface="Wingdings" panose="05000000000000000000" pitchFamily="2" charset="2"/>
              <a:buChar char="ü"/>
            </a:pPr>
            <a:r>
              <a:rPr lang="en-US" sz="1600" dirty="0"/>
              <a:t>Leave, OB, etc. entry for managers/supervisors</a:t>
            </a:r>
          </a:p>
          <a:p>
            <a:pPr marL="1200150" lvl="2" indent="-285750">
              <a:buFont typeface="Wingdings" panose="05000000000000000000" pitchFamily="2" charset="2"/>
              <a:buChar char="ü"/>
            </a:pPr>
            <a:r>
              <a:rPr lang="en-US" sz="1600" dirty="0"/>
              <a:t>Attendance summary notification</a:t>
            </a:r>
          </a:p>
          <a:p>
            <a:pPr marL="742950" lvl="1" indent="-285750">
              <a:buFont typeface="Wingdings" panose="05000000000000000000" pitchFamily="2" charset="2"/>
              <a:buChar char="ü"/>
            </a:pPr>
            <a:r>
              <a:rPr lang="en-US" sz="1600" dirty="0"/>
              <a:t>AH Monitoring</a:t>
            </a:r>
          </a:p>
          <a:p>
            <a:pPr marL="1200150" lvl="2" indent="-285750">
              <a:buFont typeface="Wingdings" panose="05000000000000000000" pitchFamily="2" charset="2"/>
              <a:buChar char="ü"/>
            </a:pPr>
            <a:r>
              <a:rPr lang="en-US" sz="1600" dirty="0"/>
              <a:t>Selfie Login</a:t>
            </a:r>
          </a:p>
          <a:p>
            <a:pPr marL="1200150" lvl="2" indent="-285750">
              <a:buFont typeface="Wingdings" panose="05000000000000000000" pitchFamily="2" charset="2"/>
              <a:buChar char="ü"/>
            </a:pPr>
            <a:r>
              <a:rPr lang="en-US" sz="1600" dirty="0"/>
              <a:t>Approvals</a:t>
            </a:r>
          </a:p>
          <a:p>
            <a:pPr marL="1200150" lvl="2" indent="-285750">
              <a:buFont typeface="Wingdings" panose="05000000000000000000" pitchFamily="2" charset="2"/>
              <a:buChar char="ü"/>
            </a:pPr>
            <a:r>
              <a:rPr lang="en-US" sz="1600" dirty="0"/>
              <a:t>Cash Count</a:t>
            </a:r>
          </a:p>
          <a:p>
            <a:pPr marL="1200150" lvl="2" indent="-285750">
              <a:buFont typeface="Wingdings" panose="05000000000000000000" pitchFamily="2" charset="2"/>
              <a:buChar char="ü"/>
            </a:pPr>
            <a:r>
              <a:rPr lang="en-US" sz="1600" dirty="0"/>
              <a:t>Reimbursement</a:t>
            </a:r>
          </a:p>
          <a:p>
            <a:pPr marL="1200150" lvl="2" indent="-285750">
              <a:buFont typeface="Wingdings" panose="05000000000000000000" pitchFamily="2" charset="2"/>
              <a:buChar char="ü"/>
            </a:pPr>
            <a:r>
              <a:rPr lang="en-US" sz="1600" dirty="0"/>
              <a:t>Random Stock Inventory</a:t>
            </a:r>
          </a:p>
          <a:p>
            <a:pPr marL="1200150" lvl="2" indent="-285750">
              <a:buFont typeface="Wingdings" panose="05000000000000000000" pitchFamily="2" charset="2"/>
              <a:buChar char="ü"/>
            </a:pPr>
            <a:r>
              <a:rPr lang="en-US" sz="1600" dirty="0"/>
              <a:t>Daily Branch Opening Notification</a:t>
            </a:r>
          </a:p>
          <a:p>
            <a:pPr marL="1200150" lvl="2" indent="-285750">
              <a:buFont typeface="Wingdings" panose="05000000000000000000" pitchFamily="2" charset="2"/>
              <a:buChar char="ü"/>
            </a:pPr>
            <a:r>
              <a:rPr lang="en-US" sz="1600" dirty="0"/>
              <a:t>Branch Performance Monitoring</a:t>
            </a:r>
          </a:p>
          <a:p>
            <a:pPr marL="742950" lvl="1" indent="-285750">
              <a:buFont typeface="Wingdings" panose="05000000000000000000" pitchFamily="2" charset="2"/>
              <a:buChar char="ü"/>
            </a:pPr>
            <a:r>
              <a:rPr lang="en-US" sz="1600" dirty="0"/>
              <a:t>Notification/Messaging</a:t>
            </a:r>
          </a:p>
          <a:p>
            <a:pPr marL="742950" lvl="1" indent="-285750">
              <a:buFont typeface="Wingdings" panose="05000000000000000000" pitchFamily="2" charset="2"/>
              <a:buChar char="ü"/>
            </a:pPr>
            <a:endParaRPr lang="en-US" sz="1600" dirty="0"/>
          </a:p>
          <a:p>
            <a:pPr marL="742950" lvl="1" indent="-285750">
              <a:buFont typeface="Wingdings" panose="05000000000000000000" pitchFamily="2" charset="2"/>
              <a:buChar char="ü"/>
            </a:pPr>
            <a:endParaRPr lang="en-US" sz="1600"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5450732" y="112529"/>
            <a:ext cx="1632563" cy="400110"/>
          </a:xfrm>
          <a:prstGeom prst="rect">
            <a:avLst/>
          </a:prstGeom>
          <a:noFill/>
        </p:spPr>
        <p:txBody>
          <a:bodyPr wrap="none" rtlCol="0">
            <a:spAutoFit/>
          </a:bodyPr>
          <a:lstStyle/>
          <a:p>
            <a:pPr algn="ctr"/>
            <a:r>
              <a:rPr lang="en-US" sz="2000" b="1" dirty="0">
                <a:solidFill>
                  <a:schemeClr val="bg1"/>
                </a:solidFill>
              </a:rPr>
              <a:t>Android Apps</a:t>
            </a:r>
          </a:p>
        </p:txBody>
      </p:sp>
    </p:spTree>
    <p:extLst>
      <p:ext uri="{BB962C8B-B14F-4D97-AF65-F5344CB8AC3E}">
        <p14:creationId xmlns:p14="http://schemas.microsoft.com/office/powerpoint/2010/main" val="1189457234"/>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nvGraphicFramePr>
        <p:xfrm>
          <a:off x="0" y="571594"/>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System Development</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13855" y="689201"/>
            <a:ext cx="6192657" cy="4524315"/>
          </a:xfrm>
          <a:prstGeom prst="rect">
            <a:avLst/>
          </a:prstGeom>
          <a:noFill/>
        </p:spPr>
        <p:txBody>
          <a:bodyPr wrap="square" rtlCol="0">
            <a:spAutoFit/>
          </a:bodyPr>
          <a:lstStyle/>
          <a:p>
            <a:pPr marL="285750" indent="-285750">
              <a:buFont typeface="Wingdings" panose="05000000000000000000" pitchFamily="2" charset="2"/>
              <a:buChar char="ü"/>
            </a:pPr>
            <a:r>
              <a:rPr lang="en-US" dirty="0"/>
              <a:t>Los </a:t>
            </a:r>
            <a:r>
              <a:rPr lang="en-US" dirty="0" err="1"/>
              <a:t>Pedritos</a:t>
            </a:r>
            <a:r>
              <a:rPr lang="en-US" dirty="0"/>
              <a:t> Integrated Systems</a:t>
            </a:r>
          </a:p>
          <a:p>
            <a:pPr marL="742950" lvl="1" indent="-285750">
              <a:buFont typeface="Wingdings" panose="05000000000000000000" pitchFamily="2" charset="2"/>
              <a:buChar char="ü"/>
            </a:pPr>
            <a:r>
              <a:rPr lang="en-US" dirty="0"/>
              <a:t>Management Reports</a:t>
            </a:r>
          </a:p>
          <a:p>
            <a:pPr marL="285750" indent="-285750">
              <a:buFont typeface="Wingdings" panose="05000000000000000000" pitchFamily="2" charset="2"/>
              <a:buChar char="ü"/>
            </a:pPr>
            <a:r>
              <a:rPr lang="en-US" dirty="0"/>
              <a:t>Engineering Inventory Management System</a:t>
            </a:r>
          </a:p>
          <a:p>
            <a:pPr marL="285750" indent="-285750">
              <a:buFont typeface="Wingdings" panose="05000000000000000000" pitchFamily="2" charset="2"/>
              <a:buChar char="ü"/>
            </a:pPr>
            <a:r>
              <a:rPr lang="en-US" dirty="0"/>
              <a:t>2H MC Pricelist (new type of classification)</a:t>
            </a:r>
          </a:p>
          <a:p>
            <a:pPr marL="285750" indent="-285750">
              <a:buFont typeface="Wingdings" panose="05000000000000000000" pitchFamily="2" charset="2"/>
              <a:buChar char="ü"/>
            </a:pPr>
            <a:r>
              <a:rPr lang="en-US" dirty="0"/>
              <a:t>Finance</a:t>
            </a:r>
          </a:p>
          <a:p>
            <a:pPr marL="742950" lvl="1" indent="-285750">
              <a:buFont typeface="Wingdings" panose="05000000000000000000" pitchFamily="2" charset="2"/>
              <a:buChar char="ü"/>
            </a:pPr>
            <a:r>
              <a:rPr lang="en-US" dirty="0"/>
              <a:t>Payroll Reports</a:t>
            </a:r>
          </a:p>
          <a:p>
            <a:pPr marL="742950" lvl="1" indent="-285750">
              <a:buFont typeface="Wingdings" panose="05000000000000000000" pitchFamily="2" charset="2"/>
              <a:buChar char="ü"/>
            </a:pPr>
            <a:r>
              <a:rPr lang="en-US" dirty="0"/>
              <a:t>Recurring Expenses</a:t>
            </a:r>
          </a:p>
          <a:p>
            <a:pPr marL="742950" lvl="1" indent="-285750">
              <a:buFont typeface="Wingdings" panose="05000000000000000000" pitchFamily="2" charset="2"/>
              <a:buChar char="ü"/>
            </a:pPr>
            <a:r>
              <a:rPr lang="en-US" dirty="0"/>
              <a:t>MP Consignment Payment</a:t>
            </a:r>
          </a:p>
          <a:p>
            <a:pPr marL="742950" lvl="1" indent="-285750">
              <a:buFont typeface="Wingdings" panose="05000000000000000000" pitchFamily="2" charset="2"/>
              <a:buChar char="ü"/>
            </a:pPr>
            <a:r>
              <a:rPr lang="en-US" dirty="0"/>
              <a:t>Advance Payment/COD Monitoring</a:t>
            </a:r>
          </a:p>
          <a:p>
            <a:pPr marL="742950" lvl="1" indent="-285750">
              <a:buFont typeface="Wingdings" panose="05000000000000000000" pitchFamily="2" charset="2"/>
              <a:buChar char="ü"/>
            </a:pPr>
            <a:r>
              <a:rPr lang="en-US" dirty="0"/>
              <a:t>Integrate MC/MP Purchase Order thru </a:t>
            </a:r>
            <a:r>
              <a:rPr lang="en-US" dirty="0" err="1"/>
              <a:t>GenAcctg</a:t>
            </a:r>
            <a:r>
              <a:rPr lang="en-US" dirty="0"/>
              <a:t> System</a:t>
            </a:r>
          </a:p>
          <a:p>
            <a:pPr marL="285750" indent="-285750">
              <a:buFont typeface="Wingdings" panose="05000000000000000000" pitchFamily="2" charset="2"/>
              <a:buChar char="ü"/>
            </a:pPr>
            <a:r>
              <a:rPr lang="en-US" dirty="0"/>
              <a:t>HCM</a:t>
            </a:r>
          </a:p>
          <a:p>
            <a:pPr marL="742950" lvl="1" indent="-285750">
              <a:buFont typeface="Wingdings" panose="05000000000000000000" pitchFamily="2" charset="2"/>
              <a:buChar char="ü"/>
            </a:pPr>
            <a:r>
              <a:rPr lang="en-US" dirty="0"/>
              <a:t>201 File Update</a:t>
            </a:r>
          </a:p>
          <a:p>
            <a:pPr marL="742950" lvl="1" indent="-285750">
              <a:buFont typeface="Wingdings" panose="05000000000000000000" pitchFamily="2" charset="2"/>
              <a:buChar char="ü"/>
            </a:pPr>
            <a:r>
              <a:rPr lang="en-US" dirty="0"/>
              <a:t>IOM Issuance</a:t>
            </a:r>
          </a:p>
          <a:p>
            <a:pPr marL="742950" lvl="1" indent="-285750">
              <a:buFont typeface="Wingdings" panose="05000000000000000000" pitchFamily="2" charset="2"/>
              <a:buChar char="ü"/>
            </a:pPr>
            <a:r>
              <a:rPr lang="en-US" dirty="0"/>
              <a:t>Payroll Encryption System</a:t>
            </a:r>
          </a:p>
          <a:p>
            <a:pPr marL="742950" lvl="1" indent="-285750">
              <a:buFont typeface="Wingdings" panose="05000000000000000000" pitchFamily="2" charset="2"/>
              <a:buChar char="ü"/>
            </a:pPr>
            <a:r>
              <a:rPr lang="en-US" dirty="0"/>
              <a:t>Random Sending of Pay Slip</a:t>
            </a:r>
          </a:p>
          <a:p>
            <a:pPr marL="742950" lvl="1" indent="-285750">
              <a:buFont typeface="Wingdings" panose="05000000000000000000" pitchFamily="2" charset="2"/>
              <a:buChar char="ü"/>
            </a:pPr>
            <a:endParaRPr lang="en-US" dirty="0"/>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5049188" y="112529"/>
            <a:ext cx="2435667" cy="400110"/>
          </a:xfrm>
          <a:prstGeom prst="rect">
            <a:avLst/>
          </a:prstGeom>
          <a:noFill/>
        </p:spPr>
        <p:txBody>
          <a:bodyPr wrap="none" rtlCol="0">
            <a:spAutoFit/>
          </a:bodyPr>
          <a:lstStyle/>
          <a:p>
            <a:pPr algn="ctr"/>
            <a:r>
              <a:rPr lang="en-US" sz="2000" b="1" dirty="0">
                <a:solidFill>
                  <a:schemeClr val="bg1"/>
                </a:solidFill>
              </a:rPr>
              <a:t>Desktop Applications</a:t>
            </a:r>
          </a:p>
        </p:txBody>
      </p:sp>
    </p:spTree>
    <p:extLst>
      <p:ext uri="{BB962C8B-B14F-4D97-AF65-F5344CB8AC3E}">
        <p14:creationId xmlns:p14="http://schemas.microsoft.com/office/powerpoint/2010/main" val="552133718"/>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Chart 17"/>
          <p:cNvGraphicFramePr/>
          <p:nvPr>
            <p:extLst>
              <p:ext uri="{D42A27DB-BD31-4B8C-83A1-F6EECF244321}">
                <p14:modId xmlns:p14="http://schemas.microsoft.com/office/powerpoint/2010/main" val="292538729"/>
              </p:ext>
            </p:extLst>
          </p:nvPr>
        </p:nvGraphicFramePr>
        <p:xfrm>
          <a:off x="33099" y="553998"/>
          <a:ext cx="9126122" cy="5903453"/>
        </p:xfrm>
        <a:graphic>
          <a:graphicData uri="http://schemas.openxmlformats.org/drawingml/2006/chart">
            <c:chart xmlns:c="http://schemas.openxmlformats.org/drawingml/2006/chart" xmlns:r="http://schemas.openxmlformats.org/officeDocument/2006/relationships" r:id="rId3"/>
          </a:graphicData>
        </a:graphic>
      </p:graphicFrame>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31782" y="0"/>
            <a:ext cx="6660409" cy="571595"/>
          </a:xfrm>
          <a:prstGeom prst="rect">
            <a:avLst/>
          </a:prstGeom>
        </p:spPr>
      </p:pic>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475048"/>
            <a:ext cx="9126122" cy="382952"/>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2458" y="6303566"/>
            <a:ext cx="3704770" cy="571592"/>
          </a:xfrm>
          <a:prstGeom prst="rect">
            <a:avLst/>
          </a:prstGeom>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0" y="0"/>
            <a:ext cx="3704772" cy="571594"/>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50454" y="6379679"/>
            <a:ext cx="2663246" cy="419366"/>
          </a:xfrm>
          <a:prstGeom prst="rect">
            <a:avLst/>
          </a:prstGeom>
        </p:spPr>
      </p:pic>
      <p:sp>
        <p:nvSpPr>
          <p:cNvPr id="11" name="TextBox 10"/>
          <p:cNvSpPr txBox="1"/>
          <p:nvPr/>
        </p:nvSpPr>
        <p:spPr>
          <a:xfrm>
            <a:off x="34849" y="122348"/>
            <a:ext cx="3258767" cy="369332"/>
          </a:xfrm>
          <a:prstGeom prst="rect">
            <a:avLst/>
          </a:prstGeom>
          <a:noFill/>
        </p:spPr>
        <p:txBody>
          <a:bodyPr wrap="square" rtlCol="0">
            <a:spAutoFit/>
          </a:bodyPr>
          <a:lstStyle/>
          <a:p>
            <a:r>
              <a:rPr lang="en-US" dirty="0">
                <a:solidFill>
                  <a:schemeClr val="bg1"/>
                </a:solidFill>
                <a:latin typeface="Arial Black" panose="020B0A04020102020204" pitchFamily="34" charset="0"/>
                <a:ea typeface="Adobe Fan Heiti Std B" panose="020B0700000000000000" pitchFamily="34" charset="-128"/>
              </a:rPr>
              <a:t>System Development</a:t>
            </a:r>
          </a:p>
        </p:txBody>
      </p:sp>
      <p:sp>
        <p:nvSpPr>
          <p:cNvPr id="3" name="Action Button: Home 2">
            <a:hlinkClick r:id="rId7" action="ppaction://hlinksldjump" highlightClick="1"/>
          </p:cNvPr>
          <p:cNvSpPr/>
          <p:nvPr/>
        </p:nvSpPr>
        <p:spPr>
          <a:xfrm>
            <a:off x="111694" y="6115271"/>
            <a:ext cx="288560" cy="288560"/>
          </a:xfrm>
          <a:prstGeom prst="actionButtonHom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12" name="Action Button: Forward or Next 11">
            <a:hlinkClick r:id="" action="ppaction://hlinkshowjump?jump=nextslide" highlightClick="1"/>
          </p:cNvPr>
          <p:cNvSpPr/>
          <p:nvPr/>
        </p:nvSpPr>
        <p:spPr>
          <a:xfrm>
            <a:off x="511948" y="6115271"/>
            <a:ext cx="286210" cy="286210"/>
          </a:xfrm>
          <a:prstGeom prst="actionButtonForwardNex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16FE23-AA68-4556-95E9-2B32D64EB0B3}"/>
              </a:ext>
            </a:extLst>
          </p:cNvPr>
          <p:cNvSpPr txBox="1"/>
          <p:nvPr/>
        </p:nvSpPr>
        <p:spPr>
          <a:xfrm>
            <a:off x="0" y="689201"/>
            <a:ext cx="3449021" cy="1295868"/>
          </a:xfrm>
          <a:prstGeom prst="rect">
            <a:avLst/>
          </a:prstGeom>
          <a:noFill/>
        </p:spPr>
        <p:txBody>
          <a:bodyPr wrap="none" rtlCol="0">
            <a:spAutoFit/>
          </a:bodyPr>
          <a:lstStyle/>
          <a:p>
            <a:pPr marL="285750" indent="-285750">
              <a:lnSpc>
                <a:spcPct val="150000"/>
              </a:lnSpc>
              <a:buFont typeface="Wingdings" panose="05000000000000000000" pitchFamily="2" charset="2"/>
              <a:buChar char="ü"/>
            </a:pPr>
            <a:r>
              <a:rPr lang="en-US" dirty="0"/>
              <a:t>Pre-order Sales</a:t>
            </a:r>
          </a:p>
          <a:p>
            <a:pPr marL="285750" indent="-285750">
              <a:lnSpc>
                <a:spcPct val="150000"/>
              </a:lnSpc>
              <a:buFont typeface="Wingdings" panose="05000000000000000000" pitchFamily="2" charset="2"/>
              <a:buChar char="ü"/>
            </a:pPr>
            <a:r>
              <a:rPr lang="en-US" dirty="0"/>
              <a:t>Online Credit Application</a:t>
            </a:r>
          </a:p>
          <a:p>
            <a:pPr marL="285750" indent="-285750">
              <a:lnSpc>
                <a:spcPct val="150000"/>
              </a:lnSpc>
              <a:buFont typeface="Wingdings" panose="05000000000000000000" pitchFamily="2" charset="2"/>
              <a:buChar char="ü"/>
            </a:pPr>
            <a:r>
              <a:rPr lang="en-US" dirty="0"/>
              <a:t>Online Employment Application</a:t>
            </a:r>
          </a:p>
        </p:txBody>
      </p:sp>
      <p:sp>
        <p:nvSpPr>
          <p:cNvPr id="7" name="TextBox 6">
            <a:extLst>
              <a:ext uri="{FF2B5EF4-FFF2-40B4-BE49-F238E27FC236}">
                <a16:creationId xmlns:a16="http://schemas.microsoft.com/office/drawing/2014/main" id="{CF28E49A-E572-4970-B29B-42E1FBD69259}"/>
              </a:ext>
            </a:extLst>
          </p:cNvPr>
          <p:cNvSpPr txBox="1"/>
          <p:nvPr/>
        </p:nvSpPr>
        <p:spPr>
          <a:xfrm>
            <a:off x="3781887" y="369332"/>
            <a:ext cx="184731" cy="369332"/>
          </a:xfrm>
          <a:prstGeom prst="rect">
            <a:avLst/>
          </a:prstGeom>
          <a:noFill/>
        </p:spPr>
        <p:txBody>
          <a:bodyPr wrap="none" rtlCol="0">
            <a:spAutoFit/>
          </a:bodyPr>
          <a:lstStyle/>
          <a:p>
            <a:endParaRPr lang="en-US" dirty="0"/>
          </a:p>
        </p:txBody>
      </p:sp>
      <p:sp>
        <p:nvSpPr>
          <p:cNvPr id="8" name="TextBox 7">
            <a:extLst>
              <a:ext uri="{FF2B5EF4-FFF2-40B4-BE49-F238E27FC236}">
                <a16:creationId xmlns:a16="http://schemas.microsoft.com/office/drawing/2014/main" id="{B88F72F2-4E4B-4308-8976-A12214E0BA73}"/>
              </a:ext>
            </a:extLst>
          </p:cNvPr>
          <p:cNvSpPr txBox="1"/>
          <p:nvPr/>
        </p:nvSpPr>
        <p:spPr>
          <a:xfrm>
            <a:off x="5739848" y="112529"/>
            <a:ext cx="1054328" cy="400110"/>
          </a:xfrm>
          <a:prstGeom prst="rect">
            <a:avLst/>
          </a:prstGeom>
          <a:noFill/>
        </p:spPr>
        <p:txBody>
          <a:bodyPr wrap="none" rtlCol="0">
            <a:spAutoFit/>
          </a:bodyPr>
          <a:lstStyle/>
          <a:p>
            <a:pPr algn="ctr"/>
            <a:r>
              <a:rPr lang="en-US" sz="2000" b="1" dirty="0">
                <a:solidFill>
                  <a:schemeClr val="bg1"/>
                </a:solidFill>
              </a:rPr>
              <a:t>Website</a:t>
            </a:r>
          </a:p>
        </p:txBody>
      </p:sp>
    </p:spTree>
    <p:extLst>
      <p:ext uri="{BB962C8B-B14F-4D97-AF65-F5344CB8AC3E}">
        <p14:creationId xmlns:p14="http://schemas.microsoft.com/office/powerpoint/2010/main" val="2942142214"/>
      </p:ext>
    </p:extLst>
  </p:cSld>
  <p:clrMapOvr>
    <a:masterClrMapping/>
  </p:clrMapOvr>
  <mc:AlternateContent xmlns:mc="http://schemas.openxmlformats.org/markup-compatibility/2006" xmlns:p14="http://schemas.microsoft.com/office/powerpoint/2010/main">
    <mc:Choice Requires="p14">
      <p:transition spd="slow" advClick="0">
        <p14:reveal/>
      </p:transition>
    </mc:Choice>
    <mc:Fallback xmlns="">
      <p:transition spd="slow" advClick="0">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8853</TotalTime>
  <Words>1141</Words>
  <Application>Microsoft Office PowerPoint</Application>
  <PresentationFormat>On-screen Show (4:3)</PresentationFormat>
  <Paragraphs>151</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Adobe Fan Heiti Std B</vt:lpstr>
      <vt:lpstr>Adobe Gothic Std B</vt:lpstr>
      <vt:lpstr>Arial</vt:lpstr>
      <vt:lpstr>Arial Black</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Jet Omaguing</dc:creator>
  <cp:lastModifiedBy>Michael Cuison</cp:lastModifiedBy>
  <cp:revision>924</cp:revision>
  <dcterms:created xsi:type="dcterms:W3CDTF">2018-06-27T09:25:47Z</dcterms:created>
  <dcterms:modified xsi:type="dcterms:W3CDTF">2020-12-10T13:56:35Z</dcterms:modified>
</cp:coreProperties>
</file>